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b4654a-c2af-6d7b-ca69-3f2150268cc0}">
          <p14:sldIdLst>
            <p14:sldId id="256"/>
            <p14:sldId id="257"/>
            <p14:sldId id="258"/>
            <p14:sldId id="259"/>
          </p14:sldIdLst>
        </p14:section>
        <p14:section name="Build" id="{e53ee51b-6076-1771-189a-46e67d14d1ca}">
          <p14:sldIdLst>
            <p14:sldId id="260"/>
            <p14:sldId id="261"/>
            <p14:sldId id="262"/>
            <p14:sldId id="263"/>
          </p14:sldIdLst>
        </p14:section>
        <p14:section name="Ship" id="{7260b990-5156-3a3f-e767-53b0b5faf550}">
          <p14:sldIdLst>
            <p14:sldId id="264"/>
            <p14:sldId id="265"/>
            <p14:sldId id="266"/>
            <p14:sldId id="267"/>
          </p14:sldIdLst>
        </p14:section>
        <p14:section name="Run" id="{ab248be6-4160-970f-78d1-ce9cf0ba2dda}">
          <p14:sldIdLst>
            <p14:sldId id="268"/>
            <p14:sldId id="269"/>
            <p14:sldId id="270"/>
            <p14:sldId id="271"/>
          </p14:sldIdLst>
        </p14:section>
        <p14:section name="Wrap-up" id="{4814066d-eb07-2278-5e99-a937f81a9921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ClinicFlow: a front-desk console for a small clinic. The app is the vehicle; the real goal is a full delivery path: tests, containers, CI/CD with a security gate, Terraform on AWS, Helm on Kubernetes, and Prometheus/Grafana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 for the receptionist. The interesting rule is the booking constraint: the backend rejects overlapping, non-cancelled appointments for the same doctor with 409 Conflict. Back-to-back slots are fine and a cancelled slot can be re-booked.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a push to main runs lint and tests, builds both images, scans them with Trivy, pushes SHA-tagged images to GHCR and runs helm upgrade. Terraform provisions the VPC and EKS underneath; Prometheus scrapes the backend and Grafana visualises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rubric module maps to a folder in the repo, and each has screenshot evidence in /screenshots. The rest of the deck goes through them in order: Build (M1–M3), Ship (M4–M6), Run (M7–M9), then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REST endpoints under /api cover GET, POST, PUT and DELETE, plus /health, /ready and /metrics. Schema is owned by Alembic, never created by the app. Show the 409 when the same doctor is double-booked.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pytest -v shows 19 passed. The isolation matters: the pipeline never needs a database server and tests can never damage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commit is one logical change, so the log reads like a build diary: app, tests, migrations, Docker, Helm, CI, docs, then the security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Dockerfiles are multi-stage so build tools never reach the runtime image, and both run as non-root. Compose waits on Postgres health before starting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come first so a broken build never produces an image. Pull requests build and scan but never push. The deploy job targets EKS and is switched on by the DEPLOY_ENABLED repo variable, so the cluster only costs money while it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Trivy scans the OS packages of both base images and every Python and npm package. The pipeline fails on HIGH or CRITICAL findings that have a fix. Explain urllib3 CVE-2026-97687 and why removing pip, rather than bumping a version, was the right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variable-driven HCL using the community VPC and EKS modules. The workflow is init, plan, apply, update-kubeconfig, and terraform destroy straight after grading because EKS and NAT bill hourly.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helm upgrade --install deploys Deployments, Services, Ingress, HPA, StatefulSet, ServiceMonitor and the Grafana dashboard ConfigMap. kubectl get pods shows two backend and two frontend pods Running plus postgres-0. values-dev.yaml targets a local kind cluster, values-prod.yaml targets 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/metrics output, the Prometheus Targets page with the backend UP, then the Grafana dashboard while the load-test script runs: request rate per endpoint, latency p50 around 50 ms and p95 under 100 ms, 0%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M10 live demo script. Commit b539493 changes the heading; its run fails on the Trivy gate. Commit ac0e34f forces a fresh base image pull and rebuild of the runtime stage, the run goes green, and helm upgrade rolls out the new SHA with no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useful lessons came from the pipeline failing. Each of these is backed by a commit in the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links and open for questions. Remind the panel that terraform destroy is run after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ClinicFlow · DevOps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tonetenth2005/Devops-Capstone" TargetMode="Externa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onetenth2005/Devops-Capstone" TargetMode="External"/><Relationship Id="rId5" Type="http://schemas.openxmlformats.org/officeDocument/2006/relationships/hyperlink" Target="https://github.com/Stonetenth2005/Devops-Capstone/blob/main/demo/clinicflow-demo.mp4" TargetMode="External"/><Relationship Id="rId7" Type="http://schemas.openxmlformats.org/officeDocument/2006/relationships/hyperlink" Target="https://github.com/Stonetenth2005/Devops-Capstone/tree/main/screenshots" TargetMode="Externa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6" Type="http://schemas.openxmlformats.org/officeDocument/2006/relationships/image" Target="../media/image-19-4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ClinicFlow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Clinic appointment booking, shipped from a laptop to a monitored Kubernetes cluster</a:t>
            </a:r>
            <a:endParaRPr lang="en-US" sz="2000" dirty="0"/>
          </a:p>
        </p:txBody>
      </p:sp>
      <p:sp>
        <p:nvSpPr>
          <p:cNvPr id="4" name="presenter"/>
          <p:cNvSpPr txBox="1"/>
          <p:nvPr/>
        </p:nvSpPr>
        <p:spPr>
          <a:xfrm>
            <a:off x="640080" y="48920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Tushar Srivastava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Session 21 · DevOps Final Capstone Project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github.com/Stonetenth2005/Devops-Capstone</a:t>
            </a:r>
            <a:endParaRPr lang="en-US" sz="1400" dirty="0"/>
          </a:p>
        </p:txBody>
      </p:sp>
      <p:sp>
        <p:nvSpPr>
          <p:cNvPr id="5" name="icon-circle-clinic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clin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365760" cy="365760"/>
          </a:xfrm>
          <a:prstGeom prst="rect">
            <a:avLst/>
          </a:prstGeom>
        </p:spPr>
      </p:pic>
      <p:sp>
        <p:nvSpPr>
          <p:cNvPr id="7" name="frame-m1-m4-app-localhost-3000.png"/>
          <p:cNvSpPr/>
          <p:nvPr/>
        </p:nvSpPr>
        <p:spPr>
          <a:xfrm>
            <a:off x="6858000" y="1976628"/>
            <a:ext cx="4846320" cy="2904744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8" name="shot-m1-m4-app-localhost-3000.png" descr="ClinicFlow front-desk dashboard running at localhost:300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22348"/>
            <a:ext cx="4754880" cy="2813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ClinicFlow does</a:t>
            </a:r>
            <a:endParaRPr lang="en-US" sz="3400" dirty="0"/>
          </a:p>
        </p:txBody>
      </p:sp>
      <p:sp>
        <p:nvSpPr>
          <p:cNvPr id="3" name="icon-circle-calendar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calend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74320" cy="274320"/>
          </a:xfrm>
          <a:prstGeom prst="rect">
            <a:avLst/>
          </a:prstGeom>
        </p:spPr>
      </p:pic>
      <p:sp>
        <p:nvSpPr>
          <p:cNvPr id="5" name="row-calendar"/>
          <p:cNvSpPr txBox="1"/>
          <p:nvPr/>
        </p:nvSpPr>
        <p:spPr>
          <a:xfrm>
            <a:off x="1280160" y="1463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Book appointments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doctor can never be double-booked: overlaps return HTTP 409</a:t>
            </a:r>
            <a:endParaRPr lang="en-US" sz="1600" dirty="0"/>
          </a:p>
        </p:txBody>
      </p:sp>
      <p:sp>
        <p:nvSpPr>
          <p:cNvPr id="6" name="icon-circle-user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us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51760"/>
            <a:ext cx="274320" cy="274320"/>
          </a:xfrm>
          <a:prstGeom prst="rect">
            <a:avLst/>
          </a:prstGeom>
        </p:spPr>
      </p:pic>
      <p:sp>
        <p:nvSpPr>
          <p:cNvPr id="8" name="row-user"/>
          <p:cNvSpPr txBox="1"/>
          <p:nvPr/>
        </p:nvSpPr>
        <p:spPr>
          <a:xfrm>
            <a:off x="1280160" y="2468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Run the visit workflow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Check patients in on arrival, mark visits complete, or cancel</a:t>
            </a:r>
            <a:endParaRPr lang="en-US" sz="1600" dirty="0"/>
          </a:p>
        </p:txBody>
      </p:sp>
      <p:sp>
        <p:nvSpPr>
          <p:cNvPr id="9" name="icon-circle-doctor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docto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57600"/>
            <a:ext cx="274320" cy="274320"/>
          </a:xfrm>
          <a:prstGeom prst="rect">
            <a:avLst/>
          </a:prstGeom>
        </p:spPr>
      </p:pic>
      <p:sp>
        <p:nvSpPr>
          <p:cNvPr id="11" name="row-doctor"/>
          <p:cNvSpPr txBox="1"/>
          <p:nvPr/>
        </p:nvSpPr>
        <p:spPr>
          <a:xfrm>
            <a:off x="1280160" y="34747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Manage the doctor roster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Add or remove doctors with specialty and room</a:t>
            </a:r>
            <a:endParaRPr lang="en-US" sz="1600" dirty="0"/>
          </a:p>
        </p:txBody>
      </p:sp>
      <p:sp>
        <p:nvSpPr>
          <p:cNvPr id="12" name="workflow-card"/>
          <p:cNvSpPr/>
          <p:nvPr/>
        </p:nvSpPr>
        <p:spPr>
          <a:xfrm>
            <a:off x="548640" y="4617720"/>
            <a:ext cx="47548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workflow-head"/>
          <p:cNvSpPr txBox="1"/>
          <p:nvPr/>
        </p:nvSpPr>
        <p:spPr>
          <a:xfrm>
            <a:off x="777240" y="4727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Status workflow (other moves → 409)</a:t>
            </a:r>
            <a:endParaRPr lang="en-US" sz="1300" dirty="0"/>
          </a:p>
        </p:txBody>
      </p:sp>
      <p:sp>
        <p:nvSpPr>
          <p:cNvPr id="14" name="chip-SCHEDULED"/>
          <p:cNvSpPr/>
          <p:nvPr/>
        </p:nvSpPr>
        <p:spPr>
          <a:xfrm>
            <a:off x="777240" y="51389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5" name="chip-text-SCHEDULED"/>
          <p:cNvSpPr txBox="1"/>
          <p:nvPr/>
        </p:nvSpPr>
        <p:spPr>
          <a:xfrm>
            <a:off x="777240" y="5138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SCHEDULED</a:t>
            </a:r>
            <a:endParaRPr lang="en-US" sz="1200" dirty="0"/>
          </a:p>
        </p:txBody>
      </p:sp>
      <p:sp>
        <p:nvSpPr>
          <p:cNvPr id="16" name="arrow"/>
          <p:cNvSpPr/>
          <p:nvPr/>
        </p:nvSpPr>
        <p:spPr>
          <a:xfrm>
            <a:off x="2157984" y="5184648"/>
            <a:ext cx="27432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chip-CHECKED_IN"/>
          <p:cNvSpPr/>
          <p:nvPr/>
        </p:nvSpPr>
        <p:spPr>
          <a:xfrm>
            <a:off x="2487168" y="51389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8" name="chip-text-CHECKED_IN"/>
          <p:cNvSpPr txBox="1"/>
          <p:nvPr/>
        </p:nvSpPr>
        <p:spPr>
          <a:xfrm>
            <a:off x="2487168" y="5138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CHECKED_IN</a:t>
            </a:r>
            <a:endParaRPr lang="en-US" sz="1200" dirty="0"/>
          </a:p>
        </p:txBody>
      </p:sp>
      <p:sp>
        <p:nvSpPr>
          <p:cNvPr id="19" name="arrow"/>
          <p:cNvSpPr/>
          <p:nvPr/>
        </p:nvSpPr>
        <p:spPr>
          <a:xfrm>
            <a:off x="3867912" y="5184648"/>
            <a:ext cx="27432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0" name="chip-COMPLETED"/>
          <p:cNvSpPr/>
          <p:nvPr/>
        </p:nvSpPr>
        <p:spPr>
          <a:xfrm>
            <a:off x="4197096" y="51389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1" name="chip-text-COMPLETED"/>
          <p:cNvSpPr txBox="1"/>
          <p:nvPr/>
        </p:nvSpPr>
        <p:spPr>
          <a:xfrm>
            <a:off x="4197096" y="51389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2" name="chip-CANCELLED  (from Scheduled or Checked in)"/>
          <p:cNvSpPr/>
          <p:nvPr/>
        </p:nvSpPr>
        <p:spPr>
          <a:xfrm>
            <a:off x="777240" y="5596128"/>
            <a:ext cx="4379976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23" name="chip-text-CANCELLED  (from Scheduled or Checked in)"/>
          <p:cNvSpPr txBox="1"/>
          <p:nvPr/>
        </p:nvSpPr>
        <p:spPr>
          <a:xfrm>
            <a:off x="777240" y="5596128"/>
            <a:ext cx="4379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CANCELLED  (from Scheduled or Checked in)</a:t>
            </a:r>
            <a:endParaRPr lang="en-US" sz="1200" dirty="0"/>
          </a:p>
        </p:txBody>
      </p:sp>
      <p:sp>
        <p:nvSpPr>
          <p:cNvPr id="24" name="frame-m1-m4-app-localhost-3000.png"/>
          <p:cNvSpPr/>
          <p:nvPr/>
        </p:nvSpPr>
        <p:spPr>
          <a:xfrm>
            <a:off x="5715000" y="1958530"/>
            <a:ext cx="5989320" cy="3581019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25" name="shot-m1-m4-app-localhost-3000.png" descr="m1-m4-app-localhost-30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004250"/>
            <a:ext cx="5897880" cy="3489579"/>
          </a:xfrm>
          <a:prstGeom prst="rect">
            <a:avLst/>
          </a:prstGeom>
        </p:spPr>
      </p:pic>
      <p:sp>
        <p:nvSpPr>
          <p:cNvPr id="26" name="caption-m1-m4-app-localhost-3000.png"/>
          <p:cNvSpPr txBox="1"/>
          <p:nvPr/>
        </p:nvSpPr>
        <p:spPr>
          <a:xfrm>
            <a:off x="5760720" y="5585269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Front-desk dashboard: React UI backed by FastAPI and PostgreSQL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push, end to end</a:t>
            </a:r>
            <a:endParaRPr lang="en-US" sz="3400" dirty="0"/>
          </a:p>
        </p:txBody>
      </p:sp>
      <p:sp>
        <p:nvSpPr>
          <p:cNvPr id="3" name="flow-git push"/>
          <p:cNvSpPr/>
          <p:nvPr/>
        </p:nvSpPr>
        <p:spPr>
          <a:xfrm>
            <a:off x="548640" y="146304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icon-circle-github"/>
          <p:cNvSpPr/>
          <p:nvPr/>
        </p:nvSpPr>
        <p:spPr>
          <a:xfrm>
            <a:off x="121158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64792"/>
            <a:ext cx="274320" cy="274320"/>
          </a:xfrm>
          <a:prstGeom prst="rect">
            <a:avLst/>
          </a:prstGeom>
        </p:spPr>
      </p:pic>
      <p:sp>
        <p:nvSpPr>
          <p:cNvPr id="6" name="flow-head"/>
          <p:cNvSpPr txBox="1"/>
          <p:nvPr/>
        </p:nvSpPr>
        <p:spPr>
          <a:xfrm>
            <a:off x="640080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 push</a:t>
            </a:r>
            <a:endParaRPr lang="en-US" sz="1500" dirty="0"/>
          </a:p>
        </p:txBody>
      </p:sp>
      <p:sp>
        <p:nvSpPr>
          <p:cNvPr id="7" name="flow-body"/>
          <p:cNvSpPr txBox="1"/>
          <p:nvPr/>
        </p:nvSpPr>
        <p:spPr>
          <a:xfrm>
            <a:off x="6400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 main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2487168" y="2121408"/>
            <a:ext cx="301752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flow-GitHub Actions"/>
          <p:cNvSpPr/>
          <p:nvPr/>
        </p:nvSpPr>
        <p:spPr>
          <a:xfrm>
            <a:off x="2852928" y="146304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0" name="icon-circle-sync"/>
          <p:cNvSpPr/>
          <p:nvPr/>
        </p:nvSpPr>
        <p:spPr>
          <a:xfrm>
            <a:off x="3515868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syn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764792"/>
            <a:ext cx="274320" cy="274320"/>
          </a:xfrm>
          <a:prstGeom prst="rect">
            <a:avLst/>
          </a:prstGeom>
        </p:spPr>
      </p:pic>
      <p:sp>
        <p:nvSpPr>
          <p:cNvPr id="12" name="flow-head"/>
          <p:cNvSpPr txBox="1"/>
          <p:nvPr/>
        </p:nvSpPr>
        <p:spPr>
          <a:xfrm>
            <a:off x="2944368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13" name="flow-body"/>
          <p:cNvSpPr txBox="1"/>
          <p:nvPr/>
        </p:nvSpPr>
        <p:spPr>
          <a:xfrm>
            <a:off x="294436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ruff · pytest · build · validate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4791456" y="2121408"/>
            <a:ext cx="301752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flow-Trivy gate"/>
          <p:cNvSpPr/>
          <p:nvPr/>
        </p:nvSpPr>
        <p:spPr>
          <a:xfrm>
            <a:off x="5157216" y="146304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icon-circle-shield"/>
          <p:cNvSpPr/>
          <p:nvPr/>
        </p:nvSpPr>
        <p:spPr>
          <a:xfrm>
            <a:off x="5820156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shiel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1764792"/>
            <a:ext cx="274320" cy="274320"/>
          </a:xfrm>
          <a:prstGeom prst="rect">
            <a:avLst/>
          </a:prstGeom>
        </p:spPr>
      </p:pic>
      <p:sp>
        <p:nvSpPr>
          <p:cNvPr id="18" name="flow-head"/>
          <p:cNvSpPr txBox="1"/>
          <p:nvPr/>
        </p:nvSpPr>
        <p:spPr>
          <a:xfrm>
            <a:off x="5248656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Trivy gate</a:t>
            </a:r>
            <a:endParaRPr lang="en-US" sz="1500" dirty="0"/>
          </a:p>
        </p:txBody>
      </p:sp>
      <p:sp>
        <p:nvSpPr>
          <p:cNvPr id="19" name="flow-body"/>
          <p:cNvSpPr txBox="1"/>
          <p:nvPr/>
        </p:nvSpPr>
        <p:spPr>
          <a:xfrm>
            <a:off x="524865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 on fixable HIGH / CRITICAL</a:t>
            </a:r>
            <a:endParaRPr lang="en-US" sz="1200" dirty="0"/>
          </a:p>
        </p:txBody>
      </p:sp>
      <p:sp>
        <p:nvSpPr>
          <p:cNvPr id="20" name="arrow"/>
          <p:cNvSpPr/>
          <p:nvPr/>
        </p:nvSpPr>
        <p:spPr>
          <a:xfrm>
            <a:off x="7095744" y="2121408"/>
            <a:ext cx="301752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flow-GHCR"/>
          <p:cNvSpPr/>
          <p:nvPr/>
        </p:nvSpPr>
        <p:spPr>
          <a:xfrm>
            <a:off x="7461504" y="146304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2" name="icon-circle-box"/>
          <p:cNvSpPr/>
          <p:nvPr/>
        </p:nvSpPr>
        <p:spPr>
          <a:xfrm>
            <a:off x="8124444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bo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604" y="1764792"/>
            <a:ext cx="274320" cy="274320"/>
          </a:xfrm>
          <a:prstGeom prst="rect">
            <a:avLst/>
          </a:prstGeom>
        </p:spPr>
      </p:pic>
      <p:sp>
        <p:nvSpPr>
          <p:cNvPr id="24" name="flow-head"/>
          <p:cNvSpPr txBox="1"/>
          <p:nvPr/>
        </p:nvSpPr>
        <p:spPr>
          <a:xfrm>
            <a:off x="7552944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GHCR</a:t>
            </a:r>
            <a:endParaRPr lang="en-US" sz="1500" dirty="0"/>
          </a:p>
        </p:txBody>
      </p:sp>
      <p:sp>
        <p:nvSpPr>
          <p:cNvPr id="25" name="flow-body"/>
          <p:cNvSpPr txBox="1"/>
          <p:nvPr/>
        </p:nvSpPr>
        <p:spPr>
          <a:xfrm>
            <a:off x="7552944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images tagged with commit SHA</a:t>
            </a:r>
            <a:endParaRPr lang="en-US" sz="1200" dirty="0"/>
          </a:p>
        </p:txBody>
      </p:sp>
      <p:sp>
        <p:nvSpPr>
          <p:cNvPr id="26" name="arrow"/>
          <p:cNvSpPr/>
          <p:nvPr/>
        </p:nvSpPr>
        <p:spPr>
          <a:xfrm>
            <a:off x="9400032" y="2121408"/>
            <a:ext cx="301752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flow-Helm upgrade"/>
          <p:cNvSpPr/>
          <p:nvPr/>
        </p:nvSpPr>
        <p:spPr>
          <a:xfrm>
            <a:off x="9765792" y="146304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8" name="icon-circle-helm"/>
          <p:cNvSpPr/>
          <p:nvPr/>
        </p:nvSpPr>
        <p:spPr>
          <a:xfrm>
            <a:off x="10428732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-helm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1764792"/>
            <a:ext cx="274320" cy="274320"/>
          </a:xfrm>
          <a:prstGeom prst="rect">
            <a:avLst/>
          </a:prstGeom>
        </p:spPr>
      </p:pic>
      <p:sp>
        <p:nvSpPr>
          <p:cNvPr id="30" name="flow-head"/>
          <p:cNvSpPr txBox="1"/>
          <p:nvPr/>
        </p:nvSpPr>
        <p:spPr>
          <a:xfrm>
            <a:off x="9857232" y="2240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Helm upgrade</a:t>
            </a:r>
            <a:endParaRPr lang="en-US" sz="1500" dirty="0"/>
          </a:p>
        </p:txBody>
      </p:sp>
      <p:sp>
        <p:nvSpPr>
          <p:cNvPr id="31" name="flow-body"/>
          <p:cNvSpPr txBox="1"/>
          <p:nvPr/>
        </p:nvSpPr>
        <p:spPr>
          <a:xfrm>
            <a:off x="9857232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rolling update, --wait</a:t>
            </a:r>
            <a:endParaRPr lang="en-US" sz="1200" dirty="0"/>
          </a:p>
        </p:txBody>
      </p:sp>
      <p:sp>
        <p:nvSpPr>
          <p:cNvPr id="32" name="lane-infra"/>
          <p:cNvSpPr/>
          <p:nvPr/>
        </p:nvSpPr>
        <p:spPr>
          <a:xfrm>
            <a:off x="548640" y="3429000"/>
            <a:ext cx="3566160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/>
        </p:spPr>
      </p:sp>
      <p:sp>
        <p:nvSpPr>
          <p:cNvPr id="33" name="icon-circle-cloud"/>
          <p:cNvSpPr/>
          <p:nvPr/>
        </p:nvSpPr>
        <p:spPr>
          <a:xfrm>
            <a:off x="777240" y="36301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-clou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3755898"/>
            <a:ext cx="251460" cy="251460"/>
          </a:xfrm>
          <a:prstGeom prst="rect">
            <a:avLst/>
          </a:prstGeom>
        </p:spPr>
      </p:pic>
      <p:sp>
        <p:nvSpPr>
          <p:cNvPr id="35" name="lane-infra-head"/>
          <p:cNvSpPr txBox="1"/>
          <p:nvPr/>
        </p:nvSpPr>
        <p:spPr>
          <a:xfrm>
            <a:off x="1417320" y="3630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Terraform → AWS</a:t>
            </a:r>
            <a:endParaRPr lang="en-US" sz="1600" dirty="0"/>
          </a:p>
        </p:txBody>
      </p:sp>
      <p:sp>
        <p:nvSpPr>
          <p:cNvPr id="36" name="lane-infra-body"/>
          <p:cNvSpPr txBox="1"/>
          <p:nvPr/>
        </p:nvSpPr>
        <p:spPr>
          <a:xfrm>
            <a:off x="777240" y="425196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VPC 10.30.0.0/16, 2 public + 2 private subnets, NAT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EKS with managed node group (2× t3.medium)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EBS CSI driver for Postgres volumes</a:t>
            </a:r>
            <a:endParaRPr lang="en-US" sz="1300" dirty="0"/>
          </a:p>
        </p:txBody>
      </p:sp>
      <p:sp>
        <p:nvSpPr>
          <p:cNvPr id="37" name="lane-k8s"/>
          <p:cNvSpPr/>
          <p:nvPr/>
        </p:nvSpPr>
        <p:spPr>
          <a:xfrm>
            <a:off x="4343400" y="3429000"/>
            <a:ext cx="393192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38" name="icon-circle-network"/>
          <p:cNvSpPr/>
          <p:nvPr/>
        </p:nvSpPr>
        <p:spPr>
          <a:xfrm>
            <a:off x="4572000" y="36301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con-networ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730" y="3755898"/>
            <a:ext cx="251460" cy="251460"/>
          </a:xfrm>
          <a:prstGeom prst="rect">
            <a:avLst/>
          </a:prstGeom>
        </p:spPr>
      </p:pic>
      <p:sp>
        <p:nvSpPr>
          <p:cNvPr id="40" name="lane-k8s-head"/>
          <p:cNvSpPr txBox="1"/>
          <p:nvPr/>
        </p:nvSpPr>
        <p:spPr>
          <a:xfrm>
            <a:off x="5212080" y="36301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Kubernetes (namespace clinicflow)</a:t>
            </a:r>
            <a:endParaRPr lang="en-US" sz="1600" dirty="0"/>
          </a:p>
        </p:txBody>
      </p:sp>
      <p:sp>
        <p:nvSpPr>
          <p:cNvPr id="41" name="lane-k8s-body"/>
          <p:cNvSpPr txBox="1"/>
          <p:nvPr/>
        </p:nvSpPr>
        <p:spPr>
          <a:xfrm>
            <a:off x="4572000" y="425196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Ingress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/ → frontend, /api → backend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Frontend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React + Nginx × 2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Backend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FastAPI × 2–6 (HPA)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Postgres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StatefulSet + gp3 PVC</a:t>
            </a:r>
            <a:endParaRPr lang="en-US" sz="1300" dirty="0"/>
          </a:p>
        </p:txBody>
      </p:sp>
      <p:sp>
        <p:nvSpPr>
          <p:cNvPr id="42" name="lane-obs"/>
          <p:cNvSpPr/>
          <p:nvPr/>
        </p:nvSpPr>
        <p:spPr>
          <a:xfrm>
            <a:off x="8503920" y="3429000"/>
            <a:ext cx="31546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3" name="icon-circle-chart"/>
          <p:cNvSpPr/>
          <p:nvPr/>
        </p:nvSpPr>
        <p:spPr>
          <a:xfrm>
            <a:off x="8732520" y="36301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icon-char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0" y="3755898"/>
            <a:ext cx="251460" cy="251460"/>
          </a:xfrm>
          <a:prstGeom prst="rect">
            <a:avLst/>
          </a:prstGeom>
        </p:spPr>
      </p:pic>
      <p:sp>
        <p:nvSpPr>
          <p:cNvPr id="45" name="lane-obs-head"/>
          <p:cNvSpPr txBox="1"/>
          <p:nvPr/>
        </p:nvSpPr>
        <p:spPr>
          <a:xfrm>
            <a:off x="9372600" y="36301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Observe</a:t>
            </a:r>
            <a:endParaRPr lang="en-US" sz="1600" dirty="0"/>
          </a:p>
        </p:txBody>
      </p:sp>
      <p:sp>
        <p:nvSpPr>
          <p:cNvPr id="46" name="lane-obs-body"/>
          <p:cNvSpPr txBox="1"/>
          <p:nvPr/>
        </p:nvSpPr>
        <p:spPr>
          <a:xfrm>
            <a:off x="8732520" y="4251960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Backend /metrics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ServiceMonitor → Prometheus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Grafana “ClinicFlow API” dashboard, 8 panels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Ten modules, one repository</a:t>
            </a:r>
            <a:endParaRPr lang="en-US" sz="3400" dirty="0"/>
          </a:p>
        </p:txBody>
      </p:sp>
      <p:sp>
        <p:nvSpPr>
          <p:cNvPr id="3" name="tile-M1"/>
          <p:cNvSpPr/>
          <p:nvPr/>
        </p:nvSpPr>
        <p:spPr>
          <a:xfrm>
            <a:off x="548640" y="146304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4" name="icon-circle-clinic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clin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1817370"/>
            <a:ext cx="251460" cy="251460"/>
          </a:xfrm>
          <a:prstGeom prst="rect">
            <a:avLst/>
          </a:prstGeom>
        </p:spPr>
      </p:pic>
      <p:sp>
        <p:nvSpPr>
          <p:cNvPr id="6" name="tile-pts"/>
          <p:cNvSpPr txBox="1"/>
          <p:nvPr/>
        </p:nvSpPr>
        <p:spPr>
          <a:xfrm>
            <a:off x="1664208" y="1737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pts</a:t>
            </a:r>
            <a:endParaRPr lang="en-US" sz="1200" dirty="0"/>
          </a:p>
        </p:txBody>
      </p:sp>
      <p:sp>
        <p:nvSpPr>
          <p:cNvPr id="7" name="tile-code"/>
          <p:cNvSpPr txBox="1"/>
          <p:nvPr/>
        </p:nvSpPr>
        <p:spPr>
          <a:xfrm>
            <a:off x="749808" y="23317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M1</a:t>
            </a:r>
            <a:endParaRPr lang="en-US" sz="2200" dirty="0"/>
          </a:p>
        </p:txBody>
      </p:sp>
      <p:sp>
        <p:nvSpPr>
          <p:cNvPr id="8" name="tile-body"/>
          <p:cNvSpPr txBox="1"/>
          <p:nvPr/>
        </p:nvSpPr>
        <p:spPr>
          <a:xfrm>
            <a:off x="749808" y="276148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Application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FastAPI + React + Postgres</a:t>
            </a:r>
            <a:endParaRPr lang="en-US" sz="1400" dirty="0"/>
          </a:p>
        </p:txBody>
      </p:sp>
      <p:sp>
        <p:nvSpPr>
          <p:cNvPr id="9" name="tile-M2"/>
          <p:cNvSpPr/>
          <p:nvPr/>
        </p:nvSpPr>
        <p:spPr>
          <a:xfrm>
            <a:off x="2788920" y="146304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0" name="icon-circle-vial"/>
          <p:cNvSpPr/>
          <p:nvPr/>
        </p:nvSpPr>
        <p:spPr>
          <a:xfrm>
            <a:off x="299008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vi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18" y="1817370"/>
            <a:ext cx="251460" cy="251460"/>
          </a:xfrm>
          <a:prstGeom prst="rect">
            <a:avLst/>
          </a:prstGeom>
        </p:spPr>
      </p:pic>
      <p:sp>
        <p:nvSpPr>
          <p:cNvPr id="12" name="tile-pts"/>
          <p:cNvSpPr txBox="1"/>
          <p:nvPr/>
        </p:nvSpPr>
        <p:spPr>
          <a:xfrm>
            <a:off x="3904488" y="1737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pts</a:t>
            </a:r>
            <a:endParaRPr lang="en-US" sz="1200" dirty="0"/>
          </a:p>
        </p:txBody>
      </p:sp>
      <p:sp>
        <p:nvSpPr>
          <p:cNvPr id="13" name="tile-code"/>
          <p:cNvSpPr txBox="1"/>
          <p:nvPr/>
        </p:nvSpPr>
        <p:spPr>
          <a:xfrm>
            <a:off x="2990088" y="23317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M2</a:t>
            </a:r>
            <a:endParaRPr lang="en-US" sz="2200" dirty="0"/>
          </a:p>
        </p:txBody>
      </p:sp>
      <p:sp>
        <p:nvSpPr>
          <p:cNvPr id="14" name="tile-body"/>
          <p:cNvSpPr txBox="1"/>
          <p:nvPr/>
        </p:nvSpPr>
        <p:spPr>
          <a:xfrm>
            <a:off x="2990088" y="276148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19 pytest cases, ruff</a:t>
            </a:r>
            <a:endParaRPr lang="en-US" sz="1400" dirty="0"/>
          </a:p>
        </p:txBody>
      </p:sp>
      <p:sp>
        <p:nvSpPr>
          <p:cNvPr id="15" name="tile-M3"/>
          <p:cNvSpPr/>
          <p:nvPr/>
        </p:nvSpPr>
        <p:spPr>
          <a:xfrm>
            <a:off x="5029200" y="146304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6" name="icon-circle-git"/>
          <p:cNvSpPr/>
          <p:nvPr/>
        </p:nvSpPr>
        <p:spPr>
          <a:xfrm>
            <a:off x="523036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gi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098" y="1817370"/>
            <a:ext cx="251460" cy="251460"/>
          </a:xfrm>
          <a:prstGeom prst="rect">
            <a:avLst/>
          </a:prstGeom>
        </p:spPr>
      </p:pic>
      <p:sp>
        <p:nvSpPr>
          <p:cNvPr id="18" name="tile-pts"/>
          <p:cNvSpPr txBox="1"/>
          <p:nvPr/>
        </p:nvSpPr>
        <p:spPr>
          <a:xfrm>
            <a:off x="6144768" y="1737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 pts</a:t>
            </a:r>
            <a:endParaRPr lang="en-US" sz="1200" dirty="0"/>
          </a:p>
        </p:txBody>
      </p:sp>
      <p:sp>
        <p:nvSpPr>
          <p:cNvPr id="19" name="tile-code"/>
          <p:cNvSpPr txBox="1"/>
          <p:nvPr/>
        </p:nvSpPr>
        <p:spPr>
          <a:xfrm>
            <a:off x="5230368" y="23317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M3</a:t>
            </a:r>
            <a:endParaRPr lang="en-US" sz="2200" dirty="0"/>
          </a:p>
        </p:txBody>
      </p:sp>
      <p:sp>
        <p:nvSpPr>
          <p:cNvPr id="20" name="tile-body"/>
          <p:cNvSpPr txBox="1"/>
          <p:nvPr/>
        </p:nvSpPr>
        <p:spPr>
          <a:xfrm>
            <a:off x="5230368" y="276148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 &amp; GitHub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28 meaningful commits</a:t>
            </a:r>
            <a:endParaRPr lang="en-US" sz="1400" dirty="0"/>
          </a:p>
        </p:txBody>
      </p:sp>
      <p:sp>
        <p:nvSpPr>
          <p:cNvPr id="21" name="tile-M4"/>
          <p:cNvSpPr/>
          <p:nvPr/>
        </p:nvSpPr>
        <p:spPr>
          <a:xfrm>
            <a:off x="7269480" y="146304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22" name="icon-circle-docker"/>
          <p:cNvSpPr/>
          <p:nvPr/>
        </p:nvSpPr>
        <p:spPr>
          <a:xfrm>
            <a:off x="747064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dock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378" y="1817370"/>
            <a:ext cx="251460" cy="251460"/>
          </a:xfrm>
          <a:prstGeom prst="rect">
            <a:avLst/>
          </a:prstGeom>
        </p:spPr>
      </p:pic>
      <p:sp>
        <p:nvSpPr>
          <p:cNvPr id="24" name="tile-pts"/>
          <p:cNvSpPr txBox="1"/>
          <p:nvPr/>
        </p:nvSpPr>
        <p:spPr>
          <a:xfrm>
            <a:off x="8385048" y="1737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pts</a:t>
            </a:r>
            <a:endParaRPr lang="en-US" sz="1200" dirty="0"/>
          </a:p>
        </p:txBody>
      </p:sp>
      <p:sp>
        <p:nvSpPr>
          <p:cNvPr id="25" name="tile-code"/>
          <p:cNvSpPr txBox="1"/>
          <p:nvPr/>
        </p:nvSpPr>
        <p:spPr>
          <a:xfrm>
            <a:off x="7470648" y="23317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M4</a:t>
            </a:r>
            <a:endParaRPr lang="en-US" sz="2200" dirty="0"/>
          </a:p>
        </p:txBody>
      </p:sp>
      <p:sp>
        <p:nvSpPr>
          <p:cNvPr id="26" name="tile-body"/>
          <p:cNvSpPr txBox="1"/>
          <p:nvPr/>
        </p:nvSpPr>
        <p:spPr>
          <a:xfrm>
            <a:off x="7470648" y="276148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Multi-stage, non-root</a:t>
            </a:r>
            <a:endParaRPr lang="en-US" sz="1400" dirty="0"/>
          </a:p>
        </p:txBody>
      </p:sp>
      <p:sp>
        <p:nvSpPr>
          <p:cNvPr id="27" name="tile-M5"/>
          <p:cNvSpPr/>
          <p:nvPr/>
        </p:nvSpPr>
        <p:spPr>
          <a:xfrm>
            <a:off x="9509760" y="146304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28" name="icon-circle-sync"/>
          <p:cNvSpPr/>
          <p:nvPr/>
        </p:nvSpPr>
        <p:spPr>
          <a:xfrm>
            <a:off x="971092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-syn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6658" y="1817370"/>
            <a:ext cx="251460" cy="251460"/>
          </a:xfrm>
          <a:prstGeom prst="rect">
            <a:avLst/>
          </a:prstGeom>
        </p:spPr>
      </p:pic>
      <p:sp>
        <p:nvSpPr>
          <p:cNvPr id="30" name="tile-pts"/>
          <p:cNvSpPr txBox="1"/>
          <p:nvPr/>
        </p:nvSpPr>
        <p:spPr>
          <a:xfrm>
            <a:off x="10625328" y="1737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 pts</a:t>
            </a:r>
            <a:endParaRPr lang="en-US" sz="1200" dirty="0"/>
          </a:p>
        </p:txBody>
      </p:sp>
      <p:sp>
        <p:nvSpPr>
          <p:cNvPr id="31" name="tile-code"/>
          <p:cNvSpPr txBox="1"/>
          <p:nvPr/>
        </p:nvSpPr>
        <p:spPr>
          <a:xfrm>
            <a:off x="9710928" y="23317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M5</a:t>
            </a:r>
            <a:endParaRPr lang="en-US" sz="2200" dirty="0"/>
          </a:p>
        </p:txBody>
      </p:sp>
      <p:sp>
        <p:nvSpPr>
          <p:cNvPr id="32" name="tile-body"/>
          <p:cNvSpPr txBox="1"/>
          <p:nvPr/>
        </p:nvSpPr>
        <p:spPr>
          <a:xfrm>
            <a:off x="9710928" y="276148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CI/CD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Actions → GHCR, SHA tags</a:t>
            </a:r>
            <a:endParaRPr lang="en-US" sz="1400" dirty="0"/>
          </a:p>
        </p:txBody>
      </p:sp>
      <p:sp>
        <p:nvSpPr>
          <p:cNvPr id="33" name="tile-M6"/>
          <p:cNvSpPr/>
          <p:nvPr/>
        </p:nvSpPr>
        <p:spPr>
          <a:xfrm>
            <a:off x="548640" y="3886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34" name="icon-circle-shield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-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38" y="4240530"/>
            <a:ext cx="251460" cy="251460"/>
          </a:xfrm>
          <a:prstGeom prst="rect">
            <a:avLst/>
          </a:prstGeom>
        </p:spPr>
      </p:pic>
      <p:sp>
        <p:nvSpPr>
          <p:cNvPr id="36" name="tile-pts"/>
          <p:cNvSpPr txBox="1"/>
          <p:nvPr/>
        </p:nvSpPr>
        <p:spPr>
          <a:xfrm>
            <a:off x="1664208" y="41605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 pts</a:t>
            </a:r>
            <a:endParaRPr lang="en-US" sz="1200" dirty="0"/>
          </a:p>
        </p:txBody>
      </p:sp>
      <p:sp>
        <p:nvSpPr>
          <p:cNvPr id="37" name="tile-code"/>
          <p:cNvSpPr txBox="1"/>
          <p:nvPr/>
        </p:nvSpPr>
        <p:spPr>
          <a:xfrm>
            <a:off x="749808" y="47548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M6</a:t>
            </a:r>
            <a:endParaRPr lang="en-US" sz="2200" dirty="0"/>
          </a:p>
        </p:txBody>
      </p:sp>
      <p:sp>
        <p:nvSpPr>
          <p:cNvPr id="38" name="tile-body"/>
          <p:cNvSpPr txBox="1"/>
          <p:nvPr/>
        </p:nvSpPr>
        <p:spPr>
          <a:xfrm>
            <a:off x="749808" y="518464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DevSecOps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Trivy HIGH/CRITICAL gate</a:t>
            </a:r>
            <a:endParaRPr lang="en-US" sz="1400" dirty="0"/>
          </a:p>
        </p:txBody>
      </p:sp>
      <p:sp>
        <p:nvSpPr>
          <p:cNvPr id="39" name="tile-M7"/>
          <p:cNvSpPr/>
          <p:nvPr/>
        </p:nvSpPr>
        <p:spPr>
          <a:xfrm>
            <a:off x="2788920" y="3886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40" name="icon-circle-cloud"/>
          <p:cNvSpPr/>
          <p:nvPr/>
        </p:nvSpPr>
        <p:spPr>
          <a:xfrm>
            <a:off x="2990088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con-cloud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5818" y="4240530"/>
            <a:ext cx="251460" cy="251460"/>
          </a:xfrm>
          <a:prstGeom prst="rect">
            <a:avLst/>
          </a:prstGeom>
        </p:spPr>
      </p:pic>
      <p:sp>
        <p:nvSpPr>
          <p:cNvPr id="42" name="tile-pts"/>
          <p:cNvSpPr txBox="1"/>
          <p:nvPr/>
        </p:nvSpPr>
        <p:spPr>
          <a:xfrm>
            <a:off x="3904488" y="41605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 pts</a:t>
            </a:r>
            <a:endParaRPr lang="en-US" sz="1200" dirty="0"/>
          </a:p>
        </p:txBody>
      </p:sp>
      <p:sp>
        <p:nvSpPr>
          <p:cNvPr id="43" name="tile-code"/>
          <p:cNvSpPr txBox="1"/>
          <p:nvPr/>
        </p:nvSpPr>
        <p:spPr>
          <a:xfrm>
            <a:off x="2990088" y="47548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M7</a:t>
            </a:r>
            <a:endParaRPr lang="en-US" sz="2200" dirty="0"/>
          </a:p>
        </p:txBody>
      </p:sp>
      <p:sp>
        <p:nvSpPr>
          <p:cNvPr id="44" name="tile-body"/>
          <p:cNvSpPr txBox="1"/>
          <p:nvPr/>
        </p:nvSpPr>
        <p:spPr>
          <a:xfrm>
            <a:off x="2990088" y="518464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Terraform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VPC + EKS, 61 resources</a:t>
            </a:r>
            <a:endParaRPr lang="en-US" sz="1400" dirty="0"/>
          </a:p>
        </p:txBody>
      </p:sp>
      <p:sp>
        <p:nvSpPr>
          <p:cNvPr id="45" name="tile-M8"/>
          <p:cNvSpPr/>
          <p:nvPr/>
        </p:nvSpPr>
        <p:spPr>
          <a:xfrm>
            <a:off x="5029200" y="3886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46" name="icon-circle-helm"/>
          <p:cNvSpPr/>
          <p:nvPr/>
        </p:nvSpPr>
        <p:spPr>
          <a:xfrm>
            <a:off x="5230368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7" name="icon-helm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6098" y="4240530"/>
            <a:ext cx="251460" cy="251460"/>
          </a:xfrm>
          <a:prstGeom prst="rect">
            <a:avLst/>
          </a:prstGeom>
        </p:spPr>
      </p:pic>
      <p:sp>
        <p:nvSpPr>
          <p:cNvPr id="48" name="tile-pts"/>
          <p:cNvSpPr txBox="1"/>
          <p:nvPr/>
        </p:nvSpPr>
        <p:spPr>
          <a:xfrm>
            <a:off x="6144768" y="41605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 pts</a:t>
            </a:r>
            <a:endParaRPr lang="en-US" sz="1200" dirty="0"/>
          </a:p>
        </p:txBody>
      </p:sp>
      <p:sp>
        <p:nvSpPr>
          <p:cNvPr id="49" name="tile-code"/>
          <p:cNvSpPr txBox="1"/>
          <p:nvPr/>
        </p:nvSpPr>
        <p:spPr>
          <a:xfrm>
            <a:off x="5230368" y="47548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M8</a:t>
            </a:r>
            <a:endParaRPr lang="en-US" sz="2200" dirty="0"/>
          </a:p>
        </p:txBody>
      </p:sp>
      <p:sp>
        <p:nvSpPr>
          <p:cNvPr id="50" name="tile-body"/>
          <p:cNvSpPr txBox="1"/>
          <p:nvPr/>
        </p:nvSpPr>
        <p:spPr>
          <a:xfrm>
            <a:off x="5230368" y="518464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Kubernetes + Helm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Chart, Ingress, HPA</a:t>
            </a:r>
            <a:endParaRPr lang="en-US" sz="1400" dirty="0"/>
          </a:p>
        </p:txBody>
      </p:sp>
      <p:sp>
        <p:nvSpPr>
          <p:cNvPr id="51" name="tile-M9"/>
          <p:cNvSpPr/>
          <p:nvPr/>
        </p:nvSpPr>
        <p:spPr>
          <a:xfrm>
            <a:off x="7269480" y="3886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52" name="icon-circle-chart"/>
          <p:cNvSpPr/>
          <p:nvPr/>
        </p:nvSpPr>
        <p:spPr>
          <a:xfrm>
            <a:off x="7470648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3" name="icon-chart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6378" y="4240530"/>
            <a:ext cx="251460" cy="251460"/>
          </a:xfrm>
          <a:prstGeom prst="rect">
            <a:avLst/>
          </a:prstGeom>
        </p:spPr>
      </p:pic>
      <p:sp>
        <p:nvSpPr>
          <p:cNvPr id="54" name="tile-pts"/>
          <p:cNvSpPr txBox="1"/>
          <p:nvPr/>
        </p:nvSpPr>
        <p:spPr>
          <a:xfrm>
            <a:off x="8385048" y="41605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pts</a:t>
            </a:r>
            <a:endParaRPr lang="en-US" sz="1200" dirty="0"/>
          </a:p>
        </p:txBody>
      </p:sp>
      <p:sp>
        <p:nvSpPr>
          <p:cNvPr id="55" name="tile-code"/>
          <p:cNvSpPr txBox="1"/>
          <p:nvPr/>
        </p:nvSpPr>
        <p:spPr>
          <a:xfrm>
            <a:off x="7470648" y="47548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M9</a:t>
            </a:r>
            <a:endParaRPr lang="en-US" sz="2200" dirty="0"/>
          </a:p>
        </p:txBody>
      </p:sp>
      <p:sp>
        <p:nvSpPr>
          <p:cNvPr id="56" name="tile-body"/>
          <p:cNvSpPr txBox="1"/>
          <p:nvPr/>
        </p:nvSpPr>
        <p:spPr>
          <a:xfrm>
            <a:off x="7470648" y="518464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Observability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Prometheus + Grafana</a:t>
            </a:r>
            <a:endParaRPr lang="en-US" sz="1400" dirty="0"/>
          </a:p>
        </p:txBody>
      </p:sp>
      <p:sp>
        <p:nvSpPr>
          <p:cNvPr id="57" name="tile-M10"/>
          <p:cNvSpPr/>
          <p:nvPr/>
        </p:nvSpPr>
        <p:spPr>
          <a:xfrm>
            <a:off x="9509760" y="3886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58" name="icon-circle-video"/>
          <p:cNvSpPr/>
          <p:nvPr/>
        </p:nvSpPr>
        <p:spPr>
          <a:xfrm>
            <a:off x="9710928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9" name="icon-vide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6658" y="4240530"/>
            <a:ext cx="251460" cy="251460"/>
          </a:xfrm>
          <a:prstGeom prst="rect">
            <a:avLst/>
          </a:prstGeom>
        </p:spPr>
      </p:pic>
      <p:sp>
        <p:nvSpPr>
          <p:cNvPr id="60" name="tile-pts"/>
          <p:cNvSpPr txBox="1"/>
          <p:nvPr/>
        </p:nvSpPr>
        <p:spPr>
          <a:xfrm>
            <a:off x="10625328" y="41605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 pts</a:t>
            </a:r>
            <a:endParaRPr lang="en-US" sz="1200" dirty="0"/>
          </a:p>
        </p:txBody>
      </p:sp>
      <p:sp>
        <p:nvSpPr>
          <p:cNvPr id="61" name="tile-code"/>
          <p:cNvSpPr txBox="1"/>
          <p:nvPr/>
        </p:nvSpPr>
        <p:spPr>
          <a:xfrm>
            <a:off x="9710928" y="47548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M10</a:t>
            </a:r>
            <a:endParaRPr lang="en-US" sz="2200" dirty="0"/>
          </a:p>
        </p:txBody>
      </p:sp>
      <p:sp>
        <p:nvSpPr>
          <p:cNvPr id="62" name="tile-body"/>
          <p:cNvSpPr txBox="1"/>
          <p:nvPr/>
        </p:nvSpPr>
        <p:spPr>
          <a:xfrm>
            <a:off x="9710928" y="5184648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Presentation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README + demo video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Build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M1 Application · M2 Testing · M3 Git and GitHub</a:t>
            </a:r>
            <a:endParaRPr lang="en-US" sz="2000" dirty="0"/>
          </a:p>
        </p:txBody>
      </p:sp>
      <p:sp>
        <p:nvSpPr>
          <p:cNvPr id="4" name="icon-circle-code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41148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real API with real rules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M1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 · 10 pts</a:t>
            </a:r>
            <a:endParaRPr lang="en-US" sz="1200" dirty="0"/>
          </a:p>
        </p:txBody>
      </p:sp>
      <p:graphicFrame>
        <p:nvGraphicFramePr>
          <p:cNvPr id="7" name="api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24028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/health · /ready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Liveness · DB readiness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 POST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/api/doctors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 · add doctor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/api/doctors/{id}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Remove doctor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 POST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/api/appointments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Filter · book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PUT / DELETE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/api/appointments/{id}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Reschedule, status · delete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/api/appointments/stats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Dashboard counters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icon-circle-db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d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0"/>
            <a:ext cx="274320" cy="274320"/>
          </a:xfrm>
          <a:prstGeom prst="rect">
            <a:avLst/>
          </a:prstGeom>
        </p:spPr>
      </p:pic>
      <p:sp>
        <p:nvSpPr>
          <p:cNvPr id="8" name="row-db"/>
          <p:cNvSpPr txBox="1"/>
          <p:nvPr/>
        </p:nvSpPr>
        <p:spPr>
          <a:xfrm>
            <a:off x="1280160" y="4389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 16 + Alembic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Migration 0001 creates doctors and appointments; 0002 seeds the roster. An advisory lock lets several replicas start safely.</a:t>
            </a:r>
            <a:endParaRPr lang="en-US" sz="1600" dirty="0"/>
          </a:p>
        </p:txBody>
      </p:sp>
      <p:sp>
        <p:nvSpPr>
          <p:cNvPr id="9" name="swagger-note"/>
          <p:cNvSpPr txBox="1"/>
          <p:nvPr/>
        </p:nvSpPr>
        <p:spPr>
          <a:xfrm>
            <a:off x="1280160" y="5440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Swagger UI at /docs documents every endpoint</a:t>
            </a:r>
            <a:endParaRPr lang="en-US" sz="1300" dirty="0"/>
          </a:p>
        </p:txBody>
      </p:sp>
      <p:sp>
        <p:nvSpPr>
          <p:cNvPr id="10" name="frame-m1-double-booking-rejected.png"/>
          <p:cNvSpPr/>
          <p:nvPr/>
        </p:nvSpPr>
        <p:spPr>
          <a:xfrm>
            <a:off x="6355080" y="2010728"/>
            <a:ext cx="5349240" cy="3202305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11" name="shot-m1-double-booking-rejected.png" descr="m1-double-booking-rejec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6448"/>
            <a:ext cx="5257800" cy="3110865"/>
          </a:xfrm>
          <a:prstGeom prst="rect">
            <a:avLst/>
          </a:prstGeom>
        </p:spPr>
      </p:pic>
      <p:sp>
        <p:nvSpPr>
          <p:cNvPr id="12" name="caption-m1-double-booking-rejected.png"/>
          <p:cNvSpPr txBox="1"/>
          <p:nvPr/>
        </p:nvSpPr>
        <p:spPr>
          <a:xfrm>
            <a:off x="6400800" y="5258753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Booking an overlapping slot is rejected with 409 Conflict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Tests run before anything ships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M2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Testing · 10 pts</a:t>
            </a:r>
            <a:endParaRPr lang="en-US" sz="1200" dirty="0"/>
          </a:p>
        </p:txBody>
      </p:sp>
      <p:sp>
        <p:nvSpPr>
          <p:cNvPr id="5" name="stat-pytest cases"/>
          <p:cNvSpPr txBox="1"/>
          <p:nvPr/>
        </p:nvSpPr>
        <p:spPr>
          <a:xfrm>
            <a:off x="54864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400" dirty="0"/>
          </a:p>
        </p:txBody>
      </p:sp>
      <p:sp>
        <p:nvSpPr>
          <p:cNvPr id="6" name="stat-label"/>
          <p:cNvSpPr txBox="1"/>
          <p:nvPr/>
        </p:nvSpPr>
        <p:spPr>
          <a:xfrm>
            <a:off x="5486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pytest cases, all passing</a:t>
            </a:r>
            <a:endParaRPr lang="en-US" sz="1300" dirty="0"/>
          </a:p>
        </p:txBody>
      </p:sp>
      <p:sp>
        <p:nvSpPr>
          <p:cNvPr id="7" name="stat-tests that t"/>
          <p:cNvSpPr txBox="1"/>
          <p:nvPr/>
        </p:nvSpPr>
        <p:spPr>
          <a:xfrm>
            <a:off x="3017520" y="1371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stat-label"/>
          <p:cNvSpPr txBox="1"/>
          <p:nvPr/>
        </p:nvSpPr>
        <p:spPr>
          <a:xfrm>
            <a:off x="301752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tests that touch PostgreSQL</a:t>
            </a:r>
            <a:endParaRPr lang="en-US" sz="1300" dirty="0"/>
          </a:p>
        </p:txBody>
      </p:sp>
      <p:sp>
        <p:nvSpPr>
          <p:cNvPr id="9" name="m2-bullets"/>
          <p:cNvSpPr txBox="1"/>
          <p:nvPr/>
        </p:nvSpPr>
        <p:spPr>
          <a:xfrm>
            <a:off x="548640" y="30175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conftest.py gives every test a fresh in-memory SQLite database via FastAPI dependency overrides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Covers health, readiness, metrics, doctor CRUD, appointment CRUD and filters, double-booking, status workflow, stats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ruff lint + format check gates the same CI job</a:t>
            </a:r>
            <a:endParaRPr lang="en-US" sz="1500" dirty="0"/>
          </a:p>
        </p:txBody>
      </p:sp>
      <p:sp>
        <p:nvSpPr>
          <p:cNvPr id="10" name="frame-m2-pytest-19-passed.png"/>
          <p:cNvSpPr/>
          <p:nvPr/>
        </p:nvSpPr>
        <p:spPr>
          <a:xfrm>
            <a:off x="6263640" y="1371600"/>
            <a:ext cx="5212080" cy="3595878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11" name="shot-m2-pytest-19-passed.png" descr="m2-pytest-19-pas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120640" cy="3504438"/>
          </a:xfrm>
          <a:prstGeom prst="rect">
            <a:avLst/>
          </a:prstGeom>
        </p:spPr>
      </p:pic>
      <p:sp>
        <p:nvSpPr>
          <p:cNvPr id="12" name="frame-m2-ruff-code-quality.png"/>
          <p:cNvSpPr/>
          <p:nvPr/>
        </p:nvSpPr>
        <p:spPr>
          <a:xfrm>
            <a:off x="6263640" y="5074920"/>
            <a:ext cx="5212080" cy="1147572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13" name="shot-m2-ruff-code-quality.png" descr="m2-ruff-code-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120640"/>
            <a:ext cx="5120640" cy="10561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History that tells the story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M3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Git · 5 pts</a:t>
            </a:r>
            <a:endParaRPr lang="en-US" sz="1200" dirty="0"/>
          </a:p>
        </p:txBody>
      </p:sp>
      <p:sp>
        <p:nvSpPr>
          <p:cNvPr id="5" name="stat-commits on m"/>
          <p:cNvSpPr txBox="1"/>
          <p:nvPr/>
        </p:nvSpPr>
        <p:spPr>
          <a:xfrm>
            <a:off x="54864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400" dirty="0"/>
          </a:p>
        </p:txBody>
      </p:sp>
      <p:sp>
        <p:nvSpPr>
          <p:cNvPr id="6" name="stat-label"/>
          <p:cNvSpPr txBox="1"/>
          <p:nvPr/>
        </p:nvSpPr>
        <p:spPr>
          <a:xfrm>
            <a:off x="5486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commits on main</a:t>
            </a:r>
            <a:endParaRPr lang="en-US" sz="1300" dirty="0"/>
          </a:p>
        </p:txBody>
      </p:sp>
      <p:sp>
        <p:nvSpPr>
          <p:cNvPr id="7" name="stat-secrets in h"/>
          <p:cNvSpPr txBox="1"/>
          <p:nvPr/>
        </p:nvSpPr>
        <p:spPr>
          <a:xfrm>
            <a:off x="3017520" y="1371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stat-label"/>
          <p:cNvSpPr txBox="1"/>
          <p:nvPr/>
        </p:nvSpPr>
        <p:spPr>
          <a:xfrm>
            <a:off x="301752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secrets in history</a:t>
            </a:r>
            <a:endParaRPr lang="en-US" sz="1300" dirty="0"/>
          </a:p>
        </p:txBody>
      </p:sp>
      <p:sp>
        <p:nvSpPr>
          <p:cNvPr id="9" name="m3-bullets"/>
          <p:cNvSpPr txBox="1"/>
          <p:nvPr/>
        </p:nvSpPr>
        <p:spPr>
          <a:xfrm>
            <a:off x="548640" y="30175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Conventional prefixes: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feat, fix, test, build, ci, infra, deploy, ops, docs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Messages say why: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“fix(db): serialise Alembic runs with a Postgres advisory lock”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.gitignore covers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.env, __pycache__, node_modules, .venv, *.tfvars, Terraform state, kubeconfigs</a:t>
            </a:r>
            <a:endParaRPr lang="en-US" sz="1500" dirty="0"/>
          </a:p>
        </p:txBody>
      </p:sp>
      <p:sp>
        <p:nvSpPr>
          <p:cNvPr id="10" name="frame-m3-github-commits-page.png"/>
          <p:cNvSpPr/>
          <p:nvPr/>
        </p:nvSpPr>
        <p:spPr>
          <a:xfrm>
            <a:off x="5989320" y="1948244"/>
            <a:ext cx="5715000" cy="3418713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11" name="shot-m3-github-commits-page.png" descr="m3-github-commits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993964"/>
            <a:ext cx="5623560" cy="3327273"/>
          </a:xfrm>
          <a:prstGeom prst="rect">
            <a:avLst/>
          </a:prstGeom>
        </p:spPr>
      </p:pic>
      <p:sp>
        <p:nvSpPr>
          <p:cNvPr id="12" name="caption-m3-github-commits-page.png"/>
          <p:cNvSpPr txBox="1"/>
          <p:nvPr/>
        </p:nvSpPr>
        <p:spPr>
          <a:xfrm>
            <a:off x="6035040" y="5412677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Public repo: github.com/Stonetenth2005/Devops-Capstone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Ship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M4 Docker · M5 CI/CD · M6 DevSecOps</a:t>
            </a:r>
            <a:endParaRPr lang="en-US" sz="2000" dirty="0"/>
          </a:p>
        </p:txBody>
      </p:sp>
      <p:sp>
        <p:nvSpPr>
          <p:cNvPr id="4" name="icon-circle-rocket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rock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41148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Small, non-root images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M4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Docker · 10 pts</a:t>
            </a:r>
            <a:endParaRPr lang="en-US" sz="1200" dirty="0"/>
          </a:p>
        </p:txBody>
      </p:sp>
      <p:sp>
        <p:nvSpPr>
          <p:cNvPr id="5" name="img-Backend"/>
          <p:cNvSpPr/>
          <p:nvPr/>
        </p:nvSpPr>
        <p:spPr>
          <a:xfrm>
            <a:off x="548640" y="1463040"/>
            <a:ext cx="6583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6" name="icon-circle-server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serv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8" name="img-head"/>
          <p:cNvSpPr txBox="1"/>
          <p:nvPr/>
        </p:nvSpPr>
        <p:spPr>
          <a:xfrm>
            <a:off x="146304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</p:txBody>
      </p:sp>
      <p:sp>
        <p:nvSpPr>
          <p:cNvPr id="9" name="chip-uid 10001 · appuser"/>
          <p:cNvSpPr/>
          <p:nvPr/>
        </p:nvSpPr>
        <p:spPr>
          <a:xfrm>
            <a:off x="4892040" y="1773936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chip-text-uid 10001 · appuser"/>
          <p:cNvSpPr txBox="1"/>
          <p:nvPr/>
        </p:nvSpPr>
        <p:spPr>
          <a:xfrm>
            <a:off x="4892040" y="1773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uid 10001 · appuser</a:t>
            </a:r>
            <a:endParaRPr lang="en-US" sz="1200" dirty="0"/>
          </a:p>
        </p:txBody>
      </p:sp>
      <p:sp>
        <p:nvSpPr>
          <p:cNvPr id="11" name="img-body"/>
          <p:cNvSpPr txBox="1"/>
          <p:nvPr/>
        </p:nvSpPr>
        <p:spPr>
          <a:xfrm>
            <a:off x="777240" y="237744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python:3.12-slim creates a venv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Runtime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slim image with only venv + code; alembic upgrade, then Uvicorn</a:t>
            </a:r>
            <a:endParaRPr lang="en-US" sz="1400" dirty="0"/>
          </a:p>
        </p:txBody>
      </p:sp>
      <p:sp>
        <p:nvSpPr>
          <p:cNvPr id="12" name="img-Frontend"/>
          <p:cNvSpPr/>
          <p:nvPr/>
        </p:nvSpPr>
        <p:spPr>
          <a:xfrm>
            <a:off x="548640" y="3337560"/>
            <a:ext cx="6583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3" name="icon-circle-code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co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274320" cy="274320"/>
          </a:xfrm>
          <a:prstGeom prst="rect">
            <a:avLst/>
          </a:prstGeom>
        </p:spPr>
      </p:pic>
      <p:sp>
        <p:nvSpPr>
          <p:cNvPr id="15" name="img-head"/>
          <p:cNvSpPr txBox="1"/>
          <p:nvPr/>
        </p:nvSpPr>
        <p:spPr>
          <a:xfrm>
            <a:off x="146304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</p:txBody>
      </p:sp>
      <p:sp>
        <p:nvSpPr>
          <p:cNvPr id="16" name="chip-uid 101 · nginx"/>
          <p:cNvSpPr/>
          <p:nvPr/>
        </p:nvSpPr>
        <p:spPr>
          <a:xfrm>
            <a:off x="4892040" y="3648456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7" name="chip-text-uid 101 · nginx"/>
          <p:cNvSpPr txBox="1"/>
          <p:nvPr/>
        </p:nvSpPr>
        <p:spPr>
          <a:xfrm>
            <a:off x="4892040" y="36484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uid 101 · nginx</a:t>
            </a:r>
            <a:endParaRPr lang="en-US" sz="1200" dirty="0"/>
          </a:p>
        </p:txBody>
      </p:sp>
      <p:sp>
        <p:nvSpPr>
          <p:cNvPr id="18" name="img-body"/>
          <p:cNvSpPr txBox="1"/>
          <p:nvPr/>
        </p:nvSpPr>
        <p:spPr>
          <a:xfrm>
            <a:off x="777240" y="425196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node:22-alpine runs npm ci &amp;&amp; npm run build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Runtime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nginx-unprivileged serves dist/ on :8080, proxies /api</a:t>
            </a:r>
            <a:endParaRPr lang="en-US" sz="1400" dirty="0"/>
          </a:p>
        </p:txBody>
      </p:sp>
      <p:sp>
        <p:nvSpPr>
          <p:cNvPr id="19" name="icon-circle-layer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lay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94960"/>
            <a:ext cx="274320" cy="274320"/>
          </a:xfrm>
          <a:prstGeom prst="rect">
            <a:avLst/>
          </a:prstGeom>
        </p:spPr>
      </p:pic>
      <p:sp>
        <p:nvSpPr>
          <p:cNvPr id="21" name="row-layer"/>
          <p:cNvSpPr txBox="1"/>
          <p:nvPr/>
        </p:nvSpPr>
        <p:spPr>
          <a:xfrm>
            <a:off x="1280160" y="52120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 compose up --build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postgres, backend and frontend start with healthchecks; UI on localhost:3000</a:t>
            </a:r>
            <a:endParaRPr lang="en-US" sz="1600" dirty="0"/>
          </a:p>
        </p:txBody>
      </p:sp>
      <p:sp>
        <p:nvSpPr>
          <p:cNvPr id="22" name="frame-m4-docker-compose-up-build.png"/>
          <p:cNvSpPr/>
          <p:nvPr/>
        </p:nvSpPr>
        <p:spPr>
          <a:xfrm>
            <a:off x="7885908" y="1371600"/>
            <a:ext cx="3384863" cy="484632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23" name="shot-m4-docker-compose-up-build.png" descr="m4-docker-compose-up-bui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628" y="1417320"/>
            <a:ext cx="3293423" cy="4754880"/>
          </a:xfrm>
          <a:prstGeom prst="rect">
            <a:avLst/>
          </a:prstGeom>
        </p:spPr>
      </p:pic>
      <p:sp>
        <p:nvSpPr>
          <p:cNvPr id="24" name="caption-m4-docker-compose-up-build.png"/>
          <p:cNvSpPr txBox="1"/>
          <p:nvPr/>
        </p:nvSpPr>
        <p:spPr>
          <a:xfrm>
            <a:off x="7931628" y="6263640"/>
            <a:ext cx="3293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All three services up from one command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push to main, automated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M5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CI/CD · 15 pts</a:t>
            </a:r>
            <a:endParaRPr lang="en-US" sz="1200" dirty="0"/>
          </a:p>
        </p:txBody>
      </p:sp>
      <p:sp>
        <p:nvSpPr>
          <p:cNvPr id="5" name="job-num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job-num-text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job-backend-test"/>
          <p:cNvSpPr txBox="1"/>
          <p:nvPr/>
        </p:nvSpPr>
        <p:spPr>
          <a:xfrm>
            <a:off x="1234440" y="1417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backend-test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ruff + pytest; any failure stops the run</a:t>
            </a:r>
            <a:endParaRPr lang="en-US" sz="1500" dirty="0"/>
          </a:p>
        </p:txBody>
      </p:sp>
      <p:sp>
        <p:nvSpPr>
          <p:cNvPr id="8" name="job-num"/>
          <p:cNvSpPr/>
          <p:nvPr/>
        </p:nvSpPr>
        <p:spPr>
          <a:xfrm>
            <a:off x="548640" y="224942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job-num-text"/>
          <p:cNvSpPr txBox="1"/>
          <p:nvPr/>
        </p:nvSpPr>
        <p:spPr>
          <a:xfrm>
            <a:off x="548640" y="2249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job-frontend-build"/>
          <p:cNvSpPr txBox="1"/>
          <p:nvPr/>
        </p:nvSpPr>
        <p:spPr>
          <a:xfrm>
            <a:off x="1234440" y="22037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frontend-build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npm ci &amp;&amp; npm run build</a:t>
            </a:r>
            <a:endParaRPr lang="en-US" sz="1500" dirty="0"/>
          </a:p>
        </p:txBody>
      </p:sp>
      <p:sp>
        <p:nvSpPr>
          <p:cNvPr id="11" name="job-num"/>
          <p:cNvSpPr/>
          <p:nvPr/>
        </p:nvSpPr>
        <p:spPr>
          <a:xfrm>
            <a:off x="548640" y="3035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job-num-text"/>
          <p:cNvSpPr txBox="1"/>
          <p:nvPr/>
        </p:nvSpPr>
        <p:spPr>
          <a:xfrm>
            <a:off x="5486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job-iac-validate"/>
          <p:cNvSpPr txBox="1"/>
          <p:nvPr/>
        </p:nvSpPr>
        <p:spPr>
          <a:xfrm>
            <a:off x="1234440" y="29900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iac-validate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helm lint/template, terraform fmt + validate</a:t>
            </a:r>
            <a:endParaRPr lang="en-US" sz="1500" dirty="0"/>
          </a:p>
        </p:txBody>
      </p:sp>
      <p:sp>
        <p:nvSpPr>
          <p:cNvPr id="14" name="job-num"/>
          <p:cNvSpPr/>
          <p:nvPr/>
        </p:nvSpPr>
        <p:spPr>
          <a:xfrm>
            <a:off x="548640" y="38221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job-num-text"/>
          <p:cNvSpPr txBox="1"/>
          <p:nvPr/>
        </p:nvSpPr>
        <p:spPr>
          <a:xfrm>
            <a:off x="54864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job-build-scan-push"/>
          <p:cNvSpPr txBox="1"/>
          <p:nvPr/>
        </p:nvSpPr>
        <p:spPr>
          <a:xfrm>
            <a:off x="1234440" y="37764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build-scan-push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matrix: backend, frontend → Trivy → GHCR</a:t>
            </a:r>
            <a:endParaRPr lang="en-US" sz="1500" dirty="0"/>
          </a:p>
        </p:txBody>
      </p:sp>
      <p:sp>
        <p:nvSpPr>
          <p:cNvPr id="17" name="job-num"/>
          <p:cNvSpPr/>
          <p:nvPr/>
        </p:nvSpPr>
        <p:spPr>
          <a:xfrm>
            <a:off x="548640" y="460857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job-num-text"/>
          <p:cNvSpPr txBox="1"/>
          <p:nvPr/>
        </p:nvSpPr>
        <p:spPr>
          <a:xfrm>
            <a:off x="548640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job-deploy"/>
          <p:cNvSpPr txBox="1"/>
          <p:nvPr/>
        </p:nvSpPr>
        <p:spPr>
          <a:xfrm>
            <a:off x="1234440" y="456285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deploy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eks update-kubeconfig, helm upgrade --wait</a:t>
            </a:r>
            <a:endParaRPr lang="en-US" sz="1500" dirty="0"/>
          </a:p>
        </p:txBody>
      </p:sp>
      <p:sp>
        <p:nvSpPr>
          <p:cNvPr id="20" name="sha-card"/>
          <p:cNvSpPr/>
          <p:nvPr/>
        </p:nvSpPr>
        <p:spPr>
          <a:xfrm>
            <a:off x="548640" y="5440680"/>
            <a:ext cx="4983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1" name="icon-circle-tag"/>
          <p:cNvSpPr/>
          <p:nvPr/>
        </p:nvSpPr>
        <p:spPr>
          <a:xfrm>
            <a:off x="685800" y="55504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ta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5676138"/>
            <a:ext cx="251460" cy="251460"/>
          </a:xfrm>
          <a:prstGeom prst="rect">
            <a:avLst/>
          </a:prstGeom>
        </p:spPr>
      </p:pic>
      <p:sp>
        <p:nvSpPr>
          <p:cNvPr id="23" name="sha-text"/>
          <p:cNvSpPr txBox="1"/>
          <p:nvPr/>
        </p:nvSpPr>
        <p:spPr>
          <a:xfrm>
            <a:off x="1325880" y="5486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Tag = Git commit SHA, never latest: every pod traces back to one commit</a:t>
            </a:r>
            <a:endParaRPr lang="en-US" sz="1300" dirty="0"/>
          </a:p>
        </p:txBody>
      </p:sp>
      <p:sp>
        <p:nvSpPr>
          <p:cNvPr id="24" name="frame-m5-actions-green-run.png"/>
          <p:cNvSpPr/>
          <p:nvPr/>
        </p:nvSpPr>
        <p:spPr>
          <a:xfrm>
            <a:off x="6245352" y="1371600"/>
            <a:ext cx="5065776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25" name="shot-m5-actions-green-run.png" descr="m5-actions-green-r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417320"/>
            <a:ext cx="4974336" cy="3108960"/>
          </a:xfrm>
          <a:prstGeom prst="rect">
            <a:avLst/>
          </a:prstGeom>
        </p:spPr>
      </p:pic>
      <p:sp>
        <p:nvSpPr>
          <p:cNvPr id="26" name="frame-m5-ghcr-backend-sha-tag.png"/>
          <p:cNvSpPr/>
          <p:nvPr/>
        </p:nvSpPr>
        <p:spPr>
          <a:xfrm>
            <a:off x="5852160" y="4663440"/>
            <a:ext cx="2432304" cy="155448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27" name="shot-m5-ghcr-backend-sha-tag.png" descr="m5-ghcr-backend-sha-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4709160"/>
            <a:ext cx="2340864" cy="1463040"/>
          </a:xfrm>
          <a:prstGeom prst="rect">
            <a:avLst/>
          </a:prstGeom>
        </p:spPr>
      </p:pic>
      <p:sp>
        <p:nvSpPr>
          <p:cNvPr id="28" name="frame-m5-ghcr-frontend-sha-tag.png"/>
          <p:cNvSpPr/>
          <p:nvPr/>
        </p:nvSpPr>
        <p:spPr>
          <a:xfrm>
            <a:off x="8823960" y="4663440"/>
            <a:ext cx="2432304" cy="155448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29" name="shot-m5-ghcr-frontend-sha-tag.png" descr="m5-ghcr-frontend-sha-t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709160"/>
            <a:ext cx="2340864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Trivy gate did its job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M6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DevSecOps · 5 pts</a:t>
            </a:r>
            <a:endParaRPr lang="en-US" sz="1200" dirty="0"/>
          </a:p>
        </p:txBody>
      </p:sp>
      <p:sp>
        <p:nvSpPr>
          <p:cNvPr id="5" name="before-card"/>
          <p:cNvSpPr/>
          <p:nvPr/>
        </p:nvSpPr>
        <p:spPr>
          <a:xfrm>
            <a:off x="548640" y="1463040"/>
            <a:ext cx="2423160" cy="1600200"/>
          </a:xfrm>
          <a:prstGeom prst="roundRect">
            <a:avLst>
              <a:gd name="adj" fmla="val 6857"/>
            </a:avLst>
          </a:prstGeom>
          <a:solidFill>
            <a:srgbClr val="FEE2E2"/>
          </a:solidFill>
          <a:ln/>
        </p:spPr>
      </p:sp>
      <p:sp>
        <p:nvSpPr>
          <p:cNvPr id="6" name="before-num"/>
          <p:cNvSpPr txBox="1"/>
          <p:nvPr/>
        </p:nvSpPr>
        <p:spPr>
          <a:xfrm>
            <a:off x="731520" y="1508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4</a:t>
            </a:r>
            <a:endParaRPr lang="en-US" sz="5400" dirty="0"/>
          </a:p>
        </p:txBody>
      </p:sp>
      <p:sp>
        <p:nvSpPr>
          <p:cNvPr id="7" name="before-label"/>
          <p:cNvSpPr txBox="1"/>
          <p:nvPr/>
        </p:nvSpPr>
        <p:spPr>
          <a:xfrm>
            <a:off x="73152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</a:rPr>
              <a:t>HIGH CVEs in backend, runs #1–#2 failed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3090672" y="2103120"/>
            <a:ext cx="36576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after-card"/>
          <p:cNvSpPr/>
          <p:nvPr/>
        </p:nvSpPr>
        <p:spPr>
          <a:xfrm>
            <a:off x="3566160" y="1463040"/>
            <a:ext cx="2423160" cy="1600200"/>
          </a:xfrm>
          <a:prstGeom prst="roundRect">
            <a:avLst>
              <a:gd name="adj" fmla="val 6857"/>
            </a:avLst>
          </a:prstGeom>
          <a:solidFill>
            <a:srgbClr val="DCFCE7"/>
          </a:solidFill>
          <a:ln/>
        </p:spPr>
      </p:sp>
      <p:sp>
        <p:nvSpPr>
          <p:cNvPr id="10" name="after-num"/>
          <p:cNvSpPr txBox="1"/>
          <p:nvPr/>
        </p:nvSpPr>
        <p:spPr>
          <a:xfrm>
            <a:off x="3749040" y="1508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0</a:t>
            </a:r>
            <a:endParaRPr lang="en-US" sz="5400" dirty="0"/>
          </a:p>
        </p:txBody>
      </p:sp>
      <p:sp>
        <p:nvSpPr>
          <p:cNvPr id="11" name="after-label"/>
          <p:cNvSpPr txBox="1"/>
          <p:nvPr/>
        </p:nvSpPr>
        <p:spPr>
          <a:xfrm>
            <a:off x="37490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</a:rPr>
              <a:t>fixable HIGH/CRITICAL in both images, run #3 green</a:t>
            </a:r>
            <a:endParaRPr lang="en-US" sz="1300" dirty="0"/>
          </a:p>
        </p:txBody>
      </p:sp>
      <p:sp>
        <p:nvSpPr>
          <p:cNvPr id="12" name="cve-story"/>
          <p:cNvSpPr txBox="1"/>
          <p:nvPr/>
        </p:nvSpPr>
        <p:spPr>
          <a:xfrm>
            <a:off x="548640" y="3291840"/>
            <a:ext cx="5440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was found: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CVE-2026-97687 in urllib3 2.7.0, where an HTTPS-proxy TLS setting can be overridden, allowing interception (fixed in 2.8.0). Plus a urllib3 DoS, a msgpack out-of-bounds read and a setuptools path traversal.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Root cause: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none were our dependencies; all were vendored inside pip itself.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Fix: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uninstall pip from the runtime image, since it is never used at runtime.</a:t>
            </a:r>
            <a:endParaRPr lang="en-US" sz="1400" dirty="0"/>
          </a:p>
        </p:txBody>
      </p:sp>
      <p:sp>
        <p:nvSpPr>
          <p:cNvPr id="13" name="pin-note"/>
          <p:cNvSpPr txBox="1"/>
          <p:nvPr/>
        </p:nvSpPr>
        <p:spPr>
          <a:xfrm>
            <a:off x="548640" y="57150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Also: Trivy action pinned to a commit SHA (tag hijack CVE-2026-33634)</a:t>
            </a:r>
            <a:endParaRPr lang="en-US" sz="1300" dirty="0"/>
          </a:p>
        </p:txBody>
      </p:sp>
      <p:sp>
        <p:nvSpPr>
          <p:cNvPr id="14" name="frame-m6-trivy-backend-findings-before-fix.png"/>
          <p:cNvSpPr/>
          <p:nvPr/>
        </p:nvSpPr>
        <p:spPr>
          <a:xfrm>
            <a:off x="6309360" y="1724930"/>
            <a:ext cx="5394960" cy="409394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15" name="shot-m6-trivy-backend-findings-before-fix.png" descr="m6-trivy-backend-findings-before-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70650"/>
            <a:ext cx="5303520" cy="4002500"/>
          </a:xfrm>
          <a:prstGeom prst="rect">
            <a:avLst/>
          </a:prstGeom>
        </p:spPr>
      </p:pic>
      <p:sp>
        <p:nvSpPr>
          <p:cNvPr id="16" name="caption-m6-trivy-backend-findings-before-fix.png"/>
          <p:cNvSpPr txBox="1"/>
          <p:nvPr/>
        </p:nvSpPr>
        <p:spPr>
          <a:xfrm>
            <a:off x="6355080" y="586459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trivy image --severity HIGH,CRITICAL --ignore-unfixed --exit-code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Run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M7 Terraform · M8 Kubernetes and Helm · M9 Observability</a:t>
            </a:r>
            <a:endParaRPr lang="en-US" sz="2000" dirty="0"/>
          </a:p>
        </p:txBody>
      </p:sp>
      <p:sp>
        <p:nvSpPr>
          <p:cNvPr id="4" name="icon-circle-server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serv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41148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AWS infrastructure as code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M7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Terraform · 15 pts</a:t>
            </a:r>
            <a:endParaRPr lang="en-US" sz="1200" dirty="0"/>
          </a:p>
        </p:txBody>
      </p:sp>
      <p:sp>
        <p:nvSpPr>
          <p:cNvPr id="5" name="stat-resources in"/>
          <p:cNvSpPr txBox="1"/>
          <p:nvPr/>
        </p:nvSpPr>
        <p:spPr>
          <a:xfrm>
            <a:off x="54864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5400" dirty="0"/>
          </a:p>
        </p:txBody>
      </p:sp>
      <p:sp>
        <p:nvSpPr>
          <p:cNvPr id="6" name="stat-label"/>
          <p:cNvSpPr txBox="1"/>
          <p:nvPr/>
        </p:nvSpPr>
        <p:spPr>
          <a:xfrm>
            <a:off x="5486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resources in terraform plan</a:t>
            </a:r>
            <a:endParaRPr lang="en-US" sz="1300" dirty="0"/>
          </a:p>
        </p:txBody>
      </p:sp>
      <p:sp>
        <p:nvSpPr>
          <p:cNvPr id="7" name="stat-public + pri"/>
          <p:cNvSpPr txBox="1"/>
          <p:nvPr/>
        </p:nvSpPr>
        <p:spPr>
          <a:xfrm>
            <a:off x="3017520" y="1371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</a:t>
            </a:r>
            <a:endParaRPr lang="en-US" sz="5400" dirty="0"/>
          </a:p>
        </p:txBody>
      </p:sp>
      <p:sp>
        <p:nvSpPr>
          <p:cNvPr id="8" name="stat-label"/>
          <p:cNvSpPr txBox="1"/>
          <p:nvPr/>
        </p:nvSpPr>
        <p:spPr>
          <a:xfrm>
            <a:off x="301752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public + private subnets, ap-south-1</a:t>
            </a:r>
            <a:endParaRPr lang="en-US" sz="1300" dirty="0"/>
          </a:p>
        </p:txBody>
      </p:sp>
      <p:sp>
        <p:nvSpPr>
          <p:cNvPr id="9" name="icon-circle-network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netwo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54680"/>
            <a:ext cx="274320" cy="274320"/>
          </a:xfrm>
          <a:prstGeom prst="rect">
            <a:avLst/>
          </a:prstGeom>
        </p:spPr>
      </p:pic>
      <p:sp>
        <p:nvSpPr>
          <p:cNvPr id="11" name="row-network"/>
          <p:cNvSpPr txBox="1"/>
          <p:nvPr/>
        </p:nvSpPr>
        <p:spPr>
          <a:xfrm>
            <a:off x="1280160" y="2971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VPC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10.30.0.0/16 · 2 public subnets (tagged for load balancers) + 2 private, across 2 AZs · one NAT gateway</a:t>
            </a:r>
            <a:endParaRPr lang="en-US" sz="1600" dirty="0"/>
          </a:p>
        </p:txBody>
      </p:sp>
      <p:sp>
        <p:nvSpPr>
          <p:cNvPr id="12" name="icon-circle-server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ser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14" name="row-server"/>
          <p:cNvSpPr txBox="1"/>
          <p:nvPr/>
        </p:nvSpPr>
        <p:spPr>
          <a:xfrm>
            <a:off x="1280160" y="39776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EKS clinicflow-dev-eks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AL2023 managed node group, 2× t3.medium · CoreDNS, kube-proxy, VPC CNI</a:t>
            </a:r>
            <a:endParaRPr lang="en-US" sz="1600" dirty="0"/>
          </a:p>
        </p:txBody>
      </p:sp>
      <p:sp>
        <p:nvSpPr>
          <p:cNvPr id="15" name="icon-circle-lock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66360"/>
            <a:ext cx="274320" cy="274320"/>
          </a:xfrm>
          <a:prstGeom prst="rect">
            <a:avLst/>
          </a:prstGeom>
        </p:spPr>
      </p:pic>
      <p:sp>
        <p:nvSpPr>
          <p:cNvPr id="17" name="row-lock"/>
          <p:cNvSpPr txBox="1"/>
          <p:nvPr/>
        </p:nvSpPr>
        <p:spPr>
          <a:xfrm>
            <a:off x="1280160" y="49834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EBS CSI driver + IRSA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Postgres gets a real gp3 disk; only terraform.tfvars.example is committed</a:t>
            </a:r>
            <a:endParaRPr lang="en-US" sz="1600" dirty="0"/>
          </a:p>
        </p:txBody>
      </p:sp>
      <p:sp>
        <p:nvSpPr>
          <p:cNvPr id="18" name="frame-m7-terraform-plan-resources.png"/>
          <p:cNvSpPr/>
          <p:nvPr/>
        </p:nvSpPr>
        <p:spPr>
          <a:xfrm>
            <a:off x="6464773" y="1371600"/>
            <a:ext cx="4764095" cy="480060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19" name="shot-m7-terraform-plan-resources.png" descr="m7-terraform-plan-resourc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493" y="1417320"/>
            <a:ext cx="4672655" cy="4709160"/>
          </a:xfrm>
          <a:prstGeom prst="rect">
            <a:avLst/>
          </a:prstGeom>
        </p:spPr>
      </p:pic>
      <p:sp>
        <p:nvSpPr>
          <p:cNvPr id="20" name="caption-m7-terraform-plan-resources.png"/>
          <p:cNvSpPr txBox="1"/>
          <p:nvPr/>
        </p:nvSpPr>
        <p:spPr>
          <a:xfrm>
            <a:off x="6510493" y="6217920"/>
            <a:ext cx="4672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terraform init → validate → plan: no errors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Deployed with one Helm chart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M8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K8s + Helm · 15 pts</a:t>
            </a:r>
            <a:endParaRPr lang="en-US" sz="1200" dirty="0"/>
          </a:p>
        </p:txBody>
      </p:sp>
      <p:sp>
        <p:nvSpPr>
          <p:cNvPr id="5" name="icon-circle-server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serv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74320" cy="274320"/>
          </a:xfrm>
          <a:prstGeom prst="rect">
            <a:avLst/>
          </a:prstGeom>
        </p:spPr>
      </p:pic>
      <p:sp>
        <p:nvSpPr>
          <p:cNvPr id="7" name="row-server"/>
          <p:cNvSpPr txBox="1"/>
          <p:nvPr/>
        </p:nvSpPr>
        <p:spPr>
          <a:xfrm>
            <a:off x="1280160" y="14630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Backend Deployment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2+ replicas, HPA 2–6 at 60% CPU, startup / readiness / liveness probes</a:t>
            </a:r>
            <a:endParaRPr lang="en-US" sz="1600" dirty="0"/>
          </a:p>
        </p:txBody>
      </p:sp>
      <p:sp>
        <p:nvSpPr>
          <p:cNvPr id="8" name="icon-circle-code"/>
          <p:cNvSpPr/>
          <p:nvPr/>
        </p:nvSpPr>
        <p:spPr>
          <a:xfrm>
            <a:off x="548640" y="2532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co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74320" cy="274320"/>
          </a:xfrm>
          <a:prstGeom prst="rect">
            <a:avLst/>
          </a:prstGeom>
        </p:spPr>
      </p:pic>
      <p:sp>
        <p:nvSpPr>
          <p:cNvPr id="10" name="row-code"/>
          <p:cNvSpPr txBox="1"/>
          <p:nvPr/>
        </p:nvSpPr>
        <p:spPr>
          <a:xfrm>
            <a:off x="1280160" y="24871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Frontend Deployment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 replicas behind a ClusterIP Service</a:t>
            </a:r>
            <a:endParaRPr lang="en-US" sz="1600" dirty="0"/>
          </a:p>
        </p:txBody>
      </p:sp>
      <p:sp>
        <p:nvSpPr>
          <p:cNvPr id="11" name="icon-circle-db"/>
          <p:cNvSpPr/>
          <p:nvPr/>
        </p:nvSpPr>
        <p:spPr>
          <a:xfrm>
            <a:off x="548640" y="35570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db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74320" cy="274320"/>
          </a:xfrm>
          <a:prstGeom prst="rect">
            <a:avLst/>
          </a:prstGeom>
        </p:spPr>
      </p:pic>
      <p:sp>
        <p:nvSpPr>
          <p:cNvPr id="13" name="row-db"/>
          <p:cNvSpPr txBox="1"/>
          <p:nvPr/>
        </p:nvSpPr>
        <p:spPr>
          <a:xfrm>
            <a:off x="1280160" y="351129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 StatefulSet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 Gi PVC, credentials from a Secret</a:t>
            </a:r>
            <a:endParaRPr lang="en-US" sz="1600" dirty="0"/>
          </a:p>
        </p:txBody>
      </p:sp>
      <p:sp>
        <p:nvSpPr>
          <p:cNvPr id="14" name="icon-circle-network"/>
          <p:cNvSpPr/>
          <p:nvPr/>
        </p:nvSpPr>
        <p:spPr>
          <a:xfrm>
            <a:off x="548640" y="45811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networ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18304"/>
            <a:ext cx="274320" cy="274320"/>
          </a:xfrm>
          <a:prstGeom prst="rect">
            <a:avLst/>
          </a:prstGeom>
        </p:spPr>
      </p:pic>
      <p:sp>
        <p:nvSpPr>
          <p:cNvPr id="16" name="row-network"/>
          <p:cNvSpPr txBox="1"/>
          <p:nvPr/>
        </p:nvSpPr>
        <p:spPr>
          <a:xfrm>
            <a:off x="1280160" y="453542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Ingress (nginx)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/api → backend :8000, / → frontend :80</a:t>
            </a:r>
            <a:endParaRPr lang="en-US" sz="1600" dirty="0"/>
          </a:p>
        </p:txBody>
      </p:sp>
      <p:sp>
        <p:nvSpPr>
          <p:cNvPr id="17" name="sec-note"/>
          <p:cNvSpPr txBox="1"/>
          <p:nvPr/>
        </p:nvSpPr>
        <p:spPr>
          <a:xfrm>
            <a:off x="54864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Pods run non-root, no privilege escalation, all capabilities dropped</a:t>
            </a:r>
            <a:endParaRPr lang="en-US" sz="1300" dirty="0"/>
          </a:p>
        </p:txBody>
      </p:sp>
      <p:sp>
        <p:nvSpPr>
          <p:cNvPr id="18" name="frame-m8-kubectl-get-pods.png"/>
          <p:cNvSpPr/>
          <p:nvPr/>
        </p:nvSpPr>
        <p:spPr>
          <a:xfrm>
            <a:off x="5806440" y="1371600"/>
            <a:ext cx="5897880" cy="1452324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19" name="shot-m8-kubectl-get-pods.png" descr="m8-kubectl-get-po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417320"/>
            <a:ext cx="5806440" cy="1360884"/>
          </a:xfrm>
          <a:prstGeom prst="rect">
            <a:avLst/>
          </a:prstGeom>
        </p:spPr>
      </p:pic>
      <p:sp>
        <p:nvSpPr>
          <p:cNvPr id="20" name="frame-m8-kubectl-get-svc.png"/>
          <p:cNvSpPr/>
          <p:nvPr/>
        </p:nvSpPr>
        <p:spPr>
          <a:xfrm>
            <a:off x="5806440" y="2971800"/>
            <a:ext cx="5897880" cy="186059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21" name="shot-m8-kubectl-get-svc.png" descr="m8-kubectl-get-sv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017520"/>
            <a:ext cx="5806440" cy="1769150"/>
          </a:xfrm>
          <a:prstGeom prst="rect">
            <a:avLst/>
          </a:prstGeom>
        </p:spPr>
      </p:pic>
      <p:sp>
        <p:nvSpPr>
          <p:cNvPr id="22" name="frame-m8-helm-list.png"/>
          <p:cNvSpPr/>
          <p:nvPr/>
        </p:nvSpPr>
        <p:spPr>
          <a:xfrm>
            <a:off x="6395246" y="4892040"/>
            <a:ext cx="4720267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23" name="shot-m8-helm-list.png" descr="m8-helm-li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0966" y="4937760"/>
            <a:ext cx="4628827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Live metrics, not guesses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M9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Observability · 10 pts</a:t>
            </a:r>
            <a:endParaRPr lang="en-US" sz="1200" dirty="0"/>
          </a:p>
        </p:txBody>
      </p:sp>
      <p:sp>
        <p:nvSpPr>
          <p:cNvPr id="5" name="m9-bullets"/>
          <p:cNvSpPr txBox="1"/>
          <p:nvPr/>
        </p:nvSpPr>
        <p:spPr>
          <a:xfrm>
            <a:off x="548640" y="1463040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/metrics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http_requests_total, http_request_duration_seconds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Business metrics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appointments booked by specialty, status changes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kube-prometheus-stack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ServiceMonitor scrapes the backend; target is UP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Grafana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 panels: pods up, requests, bookings, 5xx ratio, rate per endpoint, p50/p95 latency</a:t>
            </a:r>
            <a:endParaRPr lang="en-US" sz="1400" dirty="0"/>
          </a:p>
        </p:txBody>
      </p:sp>
      <p:sp>
        <p:nvSpPr>
          <p:cNvPr id="6" name="frame-m9-prometheus-targets-up.png"/>
          <p:cNvSpPr/>
          <p:nvPr/>
        </p:nvSpPr>
        <p:spPr>
          <a:xfrm>
            <a:off x="502920" y="4023360"/>
            <a:ext cx="3456432" cy="2194560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7" name="shot-m9-prometheus-targets-up.png" descr="m9-prometheus-targets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9080"/>
            <a:ext cx="3364992" cy="2103120"/>
          </a:xfrm>
          <a:prstGeom prst="rect">
            <a:avLst/>
          </a:prstGeom>
        </p:spPr>
      </p:pic>
      <p:sp>
        <p:nvSpPr>
          <p:cNvPr id="8" name="frame-m9-grafana-dashboard.png"/>
          <p:cNvSpPr/>
          <p:nvPr/>
        </p:nvSpPr>
        <p:spPr>
          <a:xfrm>
            <a:off x="4800600" y="1371600"/>
            <a:ext cx="6903720" cy="4349115"/>
          </a:xfrm>
          <a:prstGeom prst="rect">
            <a:avLst/>
          </a:prstGeom>
          <a:solidFill>
            <a:schemeClr val="bg1"/>
          </a:solidFill>
          <a:ln w="9525">
            <a:solidFill>
              <a:srgbClr val="D3E2DE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34">
                <a:alpha val="18000"/>
              </a:srgbClr>
            </a:outerShdw>
          </a:effectLst>
        </p:spPr>
      </p:sp>
      <p:pic>
        <p:nvPicPr>
          <p:cNvPr id="9" name="shot-m9-grafana-dashboard.png" descr="m9-grafana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6812280" cy="4257675"/>
          </a:xfrm>
          <a:prstGeom prst="rect">
            <a:avLst/>
          </a:prstGeom>
        </p:spPr>
      </p:pic>
      <p:sp>
        <p:nvSpPr>
          <p:cNvPr id="10" name="caption-m9-grafana-dashboard.png"/>
          <p:cNvSpPr txBox="1"/>
          <p:nvPr/>
        </p:nvSpPr>
        <p:spPr>
          <a:xfrm>
            <a:off x="4846320" y="5766435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ClinicFlow API dashboard under load from scripts/load-test.sh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Live demo: commit to running pods</a:t>
            </a:r>
            <a:endParaRPr lang="en-US" sz="3400" dirty="0"/>
          </a:p>
        </p:txBody>
      </p:sp>
      <p:sp>
        <p:nvSpPr>
          <p:cNvPr id="3" name="module-pill"/>
          <p:cNvSpPr/>
          <p:nvPr/>
        </p:nvSpPr>
        <p:spPr>
          <a:xfrm>
            <a:off x="9555480" y="530352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module-pill-text"/>
          <p:cNvSpPr txBox="1"/>
          <p:nvPr/>
        </p:nvSpPr>
        <p:spPr>
          <a:xfrm>
            <a:off x="9555480" y="5303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M10  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Demo · 5 pts</a:t>
            </a:r>
            <a:endParaRPr lang="en-US" sz="1200" dirty="0"/>
          </a:p>
        </p:txBody>
      </p:sp>
      <p:sp>
        <p:nvSpPr>
          <p:cNvPr id="5" name="timeline"/>
          <p:cNvSpPr/>
          <p:nvPr/>
        </p:nvSpPr>
        <p:spPr>
          <a:xfrm>
            <a:off x="1280160" y="1938528"/>
            <a:ext cx="9765792" cy="0"/>
          </a:xfrm>
          <a:prstGeom prst="line">
            <a:avLst/>
          </a:prstGeom>
          <a:noFill/>
          <a:ln w="25400">
            <a:solidFill>
              <a:srgbClr val="0F9D8A"/>
            </a:solidFill>
            <a:prstDash val="solid"/>
          </a:ln>
        </p:spPr>
      </p:sp>
      <p:sp>
        <p:nvSpPr>
          <p:cNvPr id="6" name="step-dot"/>
          <p:cNvSpPr/>
          <p:nvPr/>
        </p:nvSpPr>
        <p:spPr>
          <a:xfrm>
            <a:off x="1005840" y="166420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tep-num"/>
          <p:cNvSpPr txBox="1"/>
          <p:nvPr/>
        </p:nvSpPr>
        <p:spPr>
          <a:xfrm>
            <a:off x="100584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tep-card"/>
          <p:cNvSpPr/>
          <p:nvPr/>
        </p:nvSpPr>
        <p:spPr>
          <a:xfrm>
            <a:off x="548640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step-text"/>
          <p:cNvSpPr txBox="1"/>
          <p:nvPr/>
        </p:nvSpPr>
        <p:spPr>
          <a:xfrm>
            <a:off x="658368" y="2542032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Book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Use the app through the Ingress; a double booking returns 409</a:t>
            </a:r>
            <a:endParaRPr lang="en-US" sz="1500" dirty="0"/>
          </a:p>
        </p:txBody>
      </p:sp>
      <p:sp>
        <p:nvSpPr>
          <p:cNvPr id="10" name="step-dot"/>
          <p:cNvSpPr/>
          <p:nvPr/>
        </p:nvSpPr>
        <p:spPr>
          <a:xfrm>
            <a:off x="2633472" y="166420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tep-num"/>
          <p:cNvSpPr txBox="1"/>
          <p:nvPr/>
        </p:nvSpPr>
        <p:spPr>
          <a:xfrm>
            <a:off x="263347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-card"/>
          <p:cNvSpPr/>
          <p:nvPr/>
        </p:nvSpPr>
        <p:spPr>
          <a:xfrm>
            <a:off x="2176272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step-text"/>
          <p:cNvSpPr txBox="1"/>
          <p:nvPr/>
        </p:nvSpPr>
        <p:spPr>
          <a:xfrm>
            <a:off x="2286000" y="2542032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Commit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Change the dashboard heading, push to main</a:t>
            </a:r>
            <a:endParaRPr lang="en-US" sz="1500" dirty="0"/>
          </a:p>
        </p:txBody>
      </p:sp>
      <p:sp>
        <p:nvSpPr>
          <p:cNvPr id="14" name="step-dot"/>
          <p:cNvSpPr/>
          <p:nvPr/>
        </p:nvSpPr>
        <p:spPr>
          <a:xfrm>
            <a:off x="4261104" y="1664208"/>
            <a:ext cx="548640" cy="548640"/>
          </a:xfrm>
          <a:prstGeom prst="ellipse">
            <a:avLst/>
          </a:prstGeom>
          <a:solidFill>
            <a:schemeClr val="accent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tep-num"/>
          <p:cNvSpPr txBox="1"/>
          <p:nvPr/>
        </p:nvSpPr>
        <p:spPr>
          <a:xfrm>
            <a:off x="4261104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card"/>
          <p:cNvSpPr/>
          <p:nvPr/>
        </p:nvSpPr>
        <p:spPr>
          <a:xfrm>
            <a:off x="3803904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7" name="step-text"/>
          <p:cNvSpPr txBox="1"/>
          <p:nvPr/>
        </p:nvSpPr>
        <p:spPr>
          <a:xfrm>
            <a:off x="3913632" y="2542032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Gate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Tests pass, Trivy fails on CVE-2026-77214 (libexpat): nothing ships</a:t>
            </a:r>
            <a:endParaRPr lang="en-US" sz="1500" dirty="0"/>
          </a:p>
        </p:txBody>
      </p:sp>
      <p:sp>
        <p:nvSpPr>
          <p:cNvPr id="18" name="step-dot"/>
          <p:cNvSpPr/>
          <p:nvPr/>
        </p:nvSpPr>
        <p:spPr>
          <a:xfrm>
            <a:off x="5888736" y="166420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tep-num"/>
          <p:cNvSpPr txBox="1"/>
          <p:nvPr/>
        </p:nvSpPr>
        <p:spPr>
          <a:xfrm>
            <a:off x="588873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tep-card"/>
          <p:cNvSpPr/>
          <p:nvPr/>
        </p:nvSpPr>
        <p:spPr>
          <a:xfrm>
            <a:off x="5431536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1" name="step-text"/>
          <p:cNvSpPr txBox="1"/>
          <p:nvPr/>
        </p:nvSpPr>
        <p:spPr>
          <a:xfrm>
            <a:off x="5541264" y="2542032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Fix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CI now pulls the base image and rebuilds the runtime stage</a:t>
            </a:r>
            <a:endParaRPr lang="en-US" sz="1500" dirty="0"/>
          </a:p>
        </p:txBody>
      </p:sp>
      <p:sp>
        <p:nvSpPr>
          <p:cNvPr id="22" name="step-dot"/>
          <p:cNvSpPr/>
          <p:nvPr/>
        </p:nvSpPr>
        <p:spPr>
          <a:xfrm>
            <a:off x="7516368" y="166420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tep-num"/>
          <p:cNvSpPr txBox="1"/>
          <p:nvPr/>
        </p:nvSpPr>
        <p:spPr>
          <a:xfrm>
            <a:off x="7516368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tep-card"/>
          <p:cNvSpPr/>
          <p:nvPr/>
        </p:nvSpPr>
        <p:spPr>
          <a:xfrm>
            <a:off x="7059168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5" name="step-text"/>
          <p:cNvSpPr txBox="1"/>
          <p:nvPr/>
        </p:nvSpPr>
        <p:spPr>
          <a:xfrm>
            <a:off x="7168896" y="2542032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Green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New run passes; SHA-tagged images land in GHCR</a:t>
            </a:r>
            <a:endParaRPr lang="en-US" sz="1500" dirty="0"/>
          </a:p>
        </p:txBody>
      </p:sp>
      <p:sp>
        <p:nvSpPr>
          <p:cNvPr id="26" name="step-dot"/>
          <p:cNvSpPr/>
          <p:nvPr/>
        </p:nvSpPr>
        <p:spPr>
          <a:xfrm>
            <a:off x="9144000" y="166420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tep-num"/>
          <p:cNvSpPr txBox="1"/>
          <p:nvPr/>
        </p:nvSpPr>
        <p:spPr>
          <a:xfrm>
            <a:off x="914400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step-card"/>
          <p:cNvSpPr/>
          <p:nvPr/>
        </p:nvSpPr>
        <p:spPr>
          <a:xfrm>
            <a:off x="8686800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step-text"/>
          <p:cNvSpPr txBox="1"/>
          <p:nvPr/>
        </p:nvSpPr>
        <p:spPr>
          <a:xfrm>
            <a:off x="8796528" y="2542032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Roll out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helm upgrade to the new SHA: zero-downtime rolling update</a:t>
            </a:r>
            <a:endParaRPr lang="en-US" sz="1500" dirty="0"/>
          </a:p>
        </p:txBody>
      </p:sp>
      <p:sp>
        <p:nvSpPr>
          <p:cNvPr id="30" name="step-dot"/>
          <p:cNvSpPr/>
          <p:nvPr/>
        </p:nvSpPr>
        <p:spPr>
          <a:xfrm>
            <a:off x="10771632" y="166420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tep-num"/>
          <p:cNvSpPr txBox="1"/>
          <p:nvPr/>
        </p:nvSpPr>
        <p:spPr>
          <a:xfrm>
            <a:off x="1077163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step-card"/>
          <p:cNvSpPr/>
          <p:nvPr/>
        </p:nvSpPr>
        <p:spPr>
          <a:xfrm>
            <a:off x="10314432" y="2423160"/>
            <a:ext cx="1463040" cy="21031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3" name="step-text"/>
          <p:cNvSpPr txBox="1"/>
          <p:nvPr/>
        </p:nvSpPr>
        <p:spPr>
          <a:xfrm>
            <a:off x="10424160" y="2542032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Observe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Prometheus targets UP, Grafana dashboard live</a:t>
            </a:r>
            <a:endParaRPr lang="en-US" sz="1500" dirty="0"/>
          </a:p>
        </p:txBody>
      </p:sp>
      <p:sp>
        <p:nvSpPr>
          <p:cNvPr id="34" name="demo-card"/>
          <p:cNvSpPr/>
          <p:nvPr/>
        </p:nvSpPr>
        <p:spPr>
          <a:xfrm>
            <a:off x="548640" y="4754880"/>
            <a:ext cx="111099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5" name="icon-circle-video"/>
          <p:cNvSpPr/>
          <p:nvPr/>
        </p:nvSpPr>
        <p:spPr>
          <a:xfrm>
            <a:off x="822960" y="5074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-vide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257800"/>
            <a:ext cx="365760" cy="365760"/>
          </a:xfrm>
          <a:prstGeom prst="rect">
            <a:avLst/>
          </a:prstGeom>
        </p:spPr>
      </p:pic>
      <p:sp>
        <p:nvSpPr>
          <p:cNvPr id="37" name="demo-text"/>
          <p:cNvSpPr txBox="1"/>
          <p:nvPr/>
        </p:nvSpPr>
        <p:spPr>
          <a:xfrm>
            <a:off x="1783080" y="48463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Recorded walkthrough: demo/clinicflow-demo.mp4 (4 min 51 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The deploy job targets EKS and stays off while DEPLOY_ENABLED is false, so the same Helm upgrade runs against a local kind cluster in the video.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 learned building it</a:t>
            </a:r>
            <a:endParaRPr lang="en-US" sz="3400" dirty="0"/>
          </a:p>
        </p:txBody>
      </p:sp>
      <p:sp>
        <p:nvSpPr>
          <p:cNvPr id="3" name="lesson-bug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icon-circle-bug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bu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23110"/>
            <a:ext cx="297180" cy="297180"/>
          </a:xfrm>
          <a:prstGeom prst="rect">
            <a:avLst/>
          </a:prstGeom>
        </p:spPr>
      </p:pic>
      <p:sp>
        <p:nvSpPr>
          <p:cNvPr id="6" name="lesson-head"/>
          <p:cNvSpPr txBox="1"/>
          <p:nvPr/>
        </p:nvSpPr>
        <p:spPr>
          <a:xfrm>
            <a:off x="1600200" y="1874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Scan what you ship, not what you install</a:t>
            </a:r>
            <a:endParaRPr lang="en-US" sz="1700" dirty="0"/>
          </a:p>
        </p:txBody>
      </p:sp>
      <p:sp>
        <p:nvSpPr>
          <p:cNvPr id="7" name="lesson-body"/>
          <p:cNvSpPr txBox="1"/>
          <p:nvPr/>
        </p:nvSpPr>
        <p:spPr>
          <a:xfrm>
            <a:off x="822960" y="2606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4 HIGH CVEs lived in pip’s vendored packages. Removing unused tools from the runtime image beats chasing versions.</a:t>
            </a:r>
            <a:endParaRPr lang="en-US" sz="1500" dirty="0"/>
          </a:p>
        </p:txBody>
      </p:sp>
      <p:sp>
        <p:nvSpPr>
          <p:cNvPr id="8" name="lesson-layer"/>
          <p:cNvSpPr/>
          <p:nvPr/>
        </p:nvSpPr>
        <p:spPr>
          <a:xfrm>
            <a:off x="621792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icon-circle-layer"/>
          <p:cNvSpPr/>
          <p:nvPr/>
        </p:nvSpPr>
        <p:spPr>
          <a:xfrm>
            <a:off x="649224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lay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2023110"/>
            <a:ext cx="297180" cy="297180"/>
          </a:xfrm>
          <a:prstGeom prst="rect">
            <a:avLst/>
          </a:prstGeom>
        </p:spPr>
      </p:pic>
      <p:sp>
        <p:nvSpPr>
          <p:cNvPr id="11" name="lesson-head"/>
          <p:cNvSpPr txBox="1"/>
          <p:nvPr/>
        </p:nvSpPr>
        <p:spPr>
          <a:xfrm>
            <a:off x="7269480" y="1874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Caches can hide security fixes</a:t>
            </a:r>
            <a:endParaRPr lang="en-US" sz="1700" dirty="0"/>
          </a:p>
        </p:txBody>
      </p:sp>
      <p:sp>
        <p:nvSpPr>
          <p:cNvPr id="12" name="lesson-body"/>
          <p:cNvSpPr txBox="1"/>
          <p:nvPr/>
        </p:nvSpPr>
        <p:spPr>
          <a:xfrm>
            <a:off x="6492240" y="2606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cached apk upgrade layer kept an old libexpat. Pull the base image and rebuild the runtime stage every time.</a:t>
            </a:r>
            <a:endParaRPr lang="en-US" sz="1500" dirty="0"/>
          </a:p>
        </p:txBody>
      </p:sp>
      <p:sp>
        <p:nvSpPr>
          <p:cNvPr id="13" name="lesson-tag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icon-circle-tag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t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309110"/>
            <a:ext cx="297180" cy="297180"/>
          </a:xfrm>
          <a:prstGeom prst="rect">
            <a:avLst/>
          </a:prstGeom>
        </p:spPr>
      </p:pic>
      <p:sp>
        <p:nvSpPr>
          <p:cNvPr id="16" name="lesson-head"/>
          <p:cNvSpPr txBox="1"/>
          <p:nvPr/>
        </p:nvSpPr>
        <p:spPr>
          <a:xfrm>
            <a:off x="1600200" y="4160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Pin third-party actions by SHA</a:t>
            </a:r>
            <a:endParaRPr lang="en-US" sz="1700" dirty="0"/>
          </a:p>
        </p:txBody>
      </p:sp>
      <p:sp>
        <p:nvSpPr>
          <p:cNvPr id="17" name="lesson-body"/>
          <p:cNvSpPr txBox="1"/>
          <p:nvPr/>
        </p:nvSpPr>
        <p:spPr>
          <a:xfrm>
            <a:off x="822960" y="4892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Tags can be moved or hijacked, as trivy-action’s were in March 2026. A commit SHA cannot.</a:t>
            </a:r>
            <a:endParaRPr lang="en-US" sz="1500" dirty="0"/>
          </a:p>
        </p:txBody>
      </p:sp>
      <p:sp>
        <p:nvSpPr>
          <p:cNvPr id="18" name="lesson-db"/>
          <p:cNvSpPr/>
          <p:nvPr/>
        </p:nvSpPr>
        <p:spPr>
          <a:xfrm>
            <a:off x="6217920" y="3886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icon-circle-db"/>
          <p:cNvSpPr/>
          <p:nvPr/>
        </p:nvSpPr>
        <p:spPr>
          <a:xfrm>
            <a:off x="649224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d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297180" cy="297180"/>
          </a:xfrm>
          <a:prstGeom prst="rect">
            <a:avLst/>
          </a:prstGeom>
        </p:spPr>
      </p:pic>
      <p:sp>
        <p:nvSpPr>
          <p:cNvPr id="21" name="lesson-head"/>
          <p:cNvSpPr txBox="1"/>
          <p:nvPr/>
        </p:nvSpPr>
        <p:spPr>
          <a:xfrm>
            <a:off x="7269480" y="4160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 for many replicas from day one</a:t>
            </a:r>
            <a:endParaRPr lang="en-US" sz="1700" dirty="0"/>
          </a:p>
        </p:txBody>
      </p:sp>
      <p:sp>
        <p:nvSpPr>
          <p:cNvPr id="22" name="lesson-body"/>
          <p:cNvSpPr txBox="1"/>
          <p:nvPr/>
        </p:nvSpPr>
        <p:spPr>
          <a:xfrm>
            <a:off x="6492240" y="4892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backend pods ran migrations at once. A Postgres advisory lock serialises Alembic safely.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welcome</a:t>
            </a:r>
            <a:endParaRPr lang="en-US" sz="2000" dirty="0"/>
          </a:p>
        </p:txBody>
      </p:sp>
      <p:sp>
        <p:nvSpPr>
          <p:cNvPr id="4" name="icon-circle-clinic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clin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365760" cy="365760"/>
          </a:xfrm>
          <a:prstGeom prst="rect">
            <a:avLst/>
          </a:prstGeom>
        </p:spPr>
      </p:pic>
      <p:sp>
        <p:nvSpPr>
          <p:cNvPr id="6" name="link-Repository"/>
          <p:cNvSpPr/>
          <p:nvPr/>
        </p:nvSpPr>
        <p:spPr>
          <a:xfrm>
            <a:off x="6766560" y="160020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174D44"/>
          </a:solidFill>
          <a:ln/>
        </p:spPr>
      </p:sp>
      <p:sp>
        <p:nvSpPr>
          <p:cNvPr id="7" name="icon-circle-github"/>
          <p:cNvSpPr/>
          <p:nvPr/>
        </p:nvSpPr>
        <p:spPr>
          <a:xfrm>
            <a:off x="69951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githu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11680"/>
            <a:ext cx="274320" cy="274320"/>
          </a:xfrm>
          <a:prstGeom prst="rect">
            <a:avLst/>
          </a:prstGeom>
        </p:spPr>
      </p:pic>
      <p:sp>
        <p:nvSpPr>
          <p:cNvPr id="9" name="link-text"/>
          <p:cNvSpPr txBox="1"/>
          <p:nvPr/>
        </p:nvSpPr>
        <p:spPr>
          <a:xfrm>
            <a:off x="7726680" y="173736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Repository</a:t>
            </a:r>
            <a:endParaRPr lang="en-US" sz="1600" dirty="0"/>
          </a:p>
          <a:p>
            <a:pPr indent="0" marL="0">
              <a:buNone/>
            </a:pPr>
            <a:r>
              <a:rPr lang="en-US" sz="1300" u="sng" dirty="0">
                <a:solidFill>
                  <a:schemeClr val="bg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github.com/Stonetenth2005/Devops-Capstone</a:t>
            </a:r>
            <a:endParaRPr lang="en-US" sz="1600" dirty="0"/>
          </a:p>
        </p:txBody>
      </p:sp>
      <p:sp>
        <p:nvSpPr>
          <p:cNvPr id="10" name="link-Demo video"/>
          <p:cNvSpPr/>
          <p:nvPr/>
        </p:nvSpPr>
        <p:spPr>
          <a:xfrm>
            <a:off x="6766560" y="292608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174D44"/>
          </a:solidFill>
          <a:ln/>
        </p:spPr>
      </p:sp>
      <p:sp>
        <p:nvSpPr>
          <p:cNvPr id="11" name="icon-circle-video"/>
          <p:cNvSpPr/>
          <p:nvPr/>
        </p:nvSpPr>
        <p:spPr>
          <a:xfrm>
            <a:off x="699516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vide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337560"/>
            <a:ext cx="274320" cy="274320"/>
          </a:xfrm>
          <a:prstGeom prst="rect">
            <a:avLst/>
          </a:prstGeom>
        </p:spPr>
      </p:pic>
      <p:sp>
        <p:nvSpPr>
          <p:cNvPr id="13" name="link-text"/>
          <p:cNvSpPr txBox="1"/>
          <p:nvPr/>
        </p:nvSpPr>
        <p:spPr>
          <a:xfrm>
            <a:off x="7726680" y="30632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Demo video</a:t>
            </a:r>
            <a:endParaRPr lang="en-US" sz="1600" dirty="0"/>
          </a:p>
          <a:p>
            <a:pPr indent="0" marL="0">
              <a:buNone/>
            </a:pPr>
            <a:r>
              <a:rPr lang="en-US" sz="1300" u="sng" dirty="0">
                <a:solidFill>
                  <a:schemeClr val="bg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demo/clinicflow-demo.mp4 in the repository</a:t>
            </a:r>
            <a:endParaRPr lang="en-US" sz="1600" dirty="0"/>
          </a:p>
        </p:txBody>
      </p:sp>
      <p:sp>
        <p:nvSpPr>
          <p:cNvPr id="14" name="link-Evidence"/>
          <p:cNvSpPr/>
          <p:nvPr/>
        </p:nvSpPr>
        <p:spPr>
          <a:xfrm>
            <a:off x="6766560" y="425196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174D44"/>
          </a:solidFill>
          <a:ln/>
        </p:spPr>
      </p:sp>
      <p:sp>
        <p:nvSpPr>
          <p:cNvPr id="15" name="icon-circle-check"/>
          <p:cNvSpPr/>
          <p:nvPr/>
        </p:nvSpPr>
        <p:spPr>
          <a:xfrm>
            <a:off x="6995160" y="4526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4663440"/>
            <a:ext cx="274320" cy="274320"/>
          </a:xfrm>
          <a:prstGeom prst="rect">
            <a:avLst/>
          </a:prstGeom>
        </p:spPr>
      </p:pic>
      <p:sp>
        <p:nvSpPr>
          <p:cNvPr id="17" name="link-text"/>
          <p:cNvSpPr txBox="1"/>
          <p:nvPr/>
        </p:nvSpPr>
        <p:spPr>
          <a:xfrm>
            <a:off x="7726680" y="43891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Evidence</a:t>
            </a:r>
            <a:endParaRPr lang="en-US" sz="1600" dirty="0"/>
          </a:p>
          <a:p>
            <a:pPr indent="0" marL="0">
              <a:buNone/>
            </a:pPr>
            <a:r>
              <a:rPr lang="en-US" sz="1300" u="sng" dirty="0">
                <a:solidFill>
                  <a:schemeClr val="bg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 screenshots in /screenshots, mapped to M1–M9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Flow">
  <a:themeElements>
    <a:clrScheme name="ClinicFlow">
      <a:dk1>
        <a:srgbClr val="1B2B28"/>
      </a:dk1>
      <a:lt1>
        <a:srgbClr val="FFFFFF"/>
      </a:lt1>
      <a:dk2>
        <a:srgbClr val="0F3B34"/>
      </a:dk2>
      <a:lt2>
        <a:srgbClr val="EDF5F3"/>
      </a:lt2>
      <a:accent1>
        <a:srgbClr val="0F9D8A"/>
      </a:accent1>
      <a:accent2>
        <a:srgbClr val="F59E0B"/>
      </a:accent2>
      <a:accent3>
        <a:srgbClr val="3B82F6"/>
      </a:accent3>
      <a:accent4>
        <a:srgbClr val="16A34A"/>
      </a:accent4>
      <a:accent5>
        <a:srgbClr val="DC2626"/>
      </a:accent5>
      <a:accent6>
        <a:srgbClr val="5B6B68"/>
      </a:accent6>
      <a:hlink>
        <a:srgbClr val="0F9D8A"/>
      </a:hlink>
      <a:folHlink>
        <a:srgbClr val="5B6B68"/>
      </a:folHlink>
    </a:clrScheme>
    <a:fontScheme name="ClinicFlo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ClinicFlow DevOps Capstone</dc:title>
  <dc:subject>Session 21 Final Capstone Project</dc:subject>
  <dc:creator>Tushar Srivastava</dc:creator>
  <cp:lastModifiedBy>Tushar Srivastava</cp:lastModifiedBy>
  <cp:revision>1</cp:revision>
  <dcterms:created xsi:type="dcterms:W3CDTF">2026-10-21T09:22:57Z</dcterms:created>
  <dcterms:modified xsi:type="dcterms:W3CDTF">2026-10-21T09:22:57Z</dcterms:modified>
</cp:coreProperties>
</file>